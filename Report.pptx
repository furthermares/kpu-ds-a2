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8" r:id="rId3"/>
    <p:sldId id="262" r:id="rId4"/>
    <p:sldId id="263" r:id="rId5"/>
    <p:sldId id="259" r:id="rId6"/>
    <p:sldId id="264" r:id="rId7"/>
    <p:sldId id="265" r:id="rId8"/>
    <p:sldId id="285" r:id="rId9"/>
    <p:sldId id="266" r:id="rId10"/>
    <p:sldId id="267" r:id="rId11"/>
    <p:sldId id="268" r:id="rId12"/>
    <p:sldId id="283" r:id="rId13"/>
    <p:sldId id="284" r:id="rId14"/>
    <p:sldId id="270" r:id="rId15"/>
    <p:sldId id="281" r:id="rId16"/>
    <p:sldId id="282" r:id="rId17"/>
    <p:sldId id="271" r:id="rId18"/>
    <p:sldId id="272" r:id="rId19"/>
    <p:sldId id="278" r:id="rId20"/>
    <p:sldId id="273" r:id="rId21"/>
    <p:sldId id="277" r:id="rId22"/>
    <p:sldId id="279" r:id="rId23"/>
    <p:sldId id="280" r:id="rId24"/>
    <p:sldId id="286" r:id="rId25"/>
    <p:sldId id="288" r:id="rId26"/>
    <p:sldId id="289" r:id="rId27"/>
    <p:sldId id="290" r:id="rId28"/>
    <p:sldId id="287" r:id="rId29"/>
    <p:sldId id="292" r:id="rId30"/>
    <p:sldId id="293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g Min Jeon" initials="SMJ" lastIdx="2" clrIdx="0">
    <p:extLst>
      <p:ext uri="{19B8F6BF-5375-455C-9EA6-DF929625EA0E}">
        <p15:presenceInfo xmlns:p15="http://schemas.microsoft.com/office/powerpoint/2012/main" userId="S::2017156034@kpu.ac.kr::e8aec916-8163-464a-8d3d-f2a5300685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3" autoAdjust="0"/>
    <p:restoredTop sz="94628" autoAdjust="0"/>
  </p:normalViewPr>
  <p:slideViewPr>
    <p:cSldViewPr>
      <p:cViewPr varScale="1">
        <p:scale>
          <a:sx n="110" d="100"/>
          <a:sy n="110" d="100"/>
        </p:scale>
        <p:origin x="14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-32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E335A-E455-4161-B87F-5C087D86AA77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BD7CB-5542-4161-90D6-9798A1C3CB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40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Huffman Trees Work – Computerphile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Huffman_coding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Wikipedia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6BD7CB-5542-4161-90D6-9798A1C3CB1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898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94720" cy="40610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468313" y="5737448"/>
            <a:ext cx="8207375" cy="990600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</a:lstStyle>
          <a:p>
            <a:pPr lvl="0"/>
            <a:endParaRPr lang="ko-KR" alt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4"/>
          </p:nvPr>
        </p:nvSpPr>
        <p:spPr>
          <a:xfrm>
            <a:off x="3923928" y="1600200"/>
            <a:ext cx="4752528" cy="40610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075678B-1F1A-4972-A096-CDDA9935656E}" type="datetimeFigureOut">
              <a:rPr lang="ko-KR" altLang="en-US" smtClean="0"/>
              <a:t>2020-05-31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C3B084EF-37B6-477F-8A30-87A1971902F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1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600" dirty="0"/>
              <a:t>2</a:t>
            </a:r>
            <a:r>
              <a:rPr lang="ko-KR" altLang="en-US" sz="4600" dirty="0"/>
              <a:t>차 </a:t>
            </a:r>
            <a:r>
              <a:rPr lang="en-US" altLang="ko-KR" sz="4600" dirty="0"/>
              <a:t>- </a:t>
            </a:r>
            <a:r>
              <a:rPr lang="en-US" altLang="ko-KR" sz="4600" dirty="0" err="1"/>
              <a:t>huffman</a:t>
            </a:r>
            <a:r>
              <a:rPr lang="en-US" altLang="ko-KR" sz="4600" dirty="0"/>
              <a:t> coding</a:t>
            </a:r>
            <a:endParaRPr lang="ko-KR" altLang="en-US" sz="4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251608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자료구조</a:t>
            </a:r>
            <a:r>
              <a:rPr lang="en-US" altLang="ko-KR" sz="2000" dirty="0"/>
              <a:t>(11)</a:t>
            </a:r>
          </a:p>
          <a:p>
            <a:r>
              <a:rPr lang="en-US" altLang="ko-KR" sz="2000" dirty="0"/>
              <a:t>2020-05-18 ~ 05-24</a:t>
            </a:r>
          </a:p>
          <a:p>
            <a:r>
              <a:rPr lang="en-US" altLang="ko-KR" sz="1600" dirty="0"/>
              <a:t>  05-25 – v3</a:t>
            </a:r>
          </a:p>
          <a:p>
            <a:r>
              <a:rPr lang="en-US" altLang="ko-KR" sz="1600" dirty="0"/>
              <a:t>  05-31 – v6</a:t>
            </a:r>
          </a:p>
          <a:p>
            <a:r>
              <a:rPr lang="en-US" altLang="ko-KR" sz="2000" dirty="0"/>
              <a:t>2017156034</a:t>
            </a:r>
          </a:p>
          <a:p>
            <a:r>
              <a:rPr lang="ko-KR" altLang="en-US" sz="2000" dirty="0"/>
              <a:t>전상민</a:t>
            </a:r>
          </a:p>
        </p:txBody>
      </p:sp>
    </p:spTree>
    <p:extLst>
      <p:ext uri="{BB962C8B-B14F-4D97-AF65-F5344CB8AC3E}">
        <p14:creationId xmlns:p14="http://schemas.microsoft.com/office/powerpoint/2010/main" val="368544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6CCCEB0-072A-41E2-9CA9-6145060F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Huffman coding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3B4BD3-D2CD-4C79-9AB5-50A9F8873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610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3000" dirty="0" err="1">
                <a:latin typeface="+mn-ea"/>
                <a:ea typeface="문체부 돋음체" panose="020B0609000101010101" pitchFamily="49" charset="-127"/>
              </a:rPr>
              <a:t>허프만</a:t>
            </a:r>
            <a:r>
              <a:rPr lang="ko-KR" altLang="en-US" sz="3000" dirty="0">
                <a:latin typeface="+mn-ea"/>
                <a:ea typeface="문체부 돋음체" panose="020B0609000101010101" pitchFamily="49" charset="-127"/>
              </a:rPr>
              <a:t> 코드</a:t>
            </a:r>
            <a:r>
              <a:rPr lang="en-US" altLang="ko-KR" sz="3000" dirty="0">
                <a:latin typeface="+mn-ea"/>
                <a:ea typeface="문체부 돋음체" panose="020B0609000101010101" pitchFamily="49" charset="-127"/>
              </a:rPr>
              <a:t>[Huffman coding]</a:t>
            </a:r>
            <a:r>
              <a:rPr lang="ko-KR" altLang="en-US" sz="2600" dirty="0">
                <a:latin typeface="+mn-ea"/>
                <a:ea typeface="문체부 돋음체" panose="020B0609000101010101" pitchFamily="49" charset="-127"/>
              </a:rPr>
              <a:t>는</a:t>
            </a:r>
            <a:endParaRPr lang="en-US" altLang="ko-KR" sz="2600" dirty="0">
              <a:latin typeface="+mn-ea"/>
              <a:ea typeface="문체부 돋음체" panose="020B0609000101010101" pitchFamily="49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문체부 돋음체" panose="020B0609000101010101" pitchFamily="49" charset="-127"/>
              </a:rPr>
              <a:t>각 글자를 순차적으로 숫자를 부여하지 않고</a:t>
            </a:r>
            <a:r>
              <a:rPr lang="en-US" altLang="ko-KR" dirty="0">
                <a:latin typeface="+mn-ea"/>
                <a:ea typeface="문체부 돋음체" panose="020B0609000101010101" pitchFamily="49" charset="-127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u="sng" dirty="0">
                <a:latin typeface="+mn-ea"/>
                <a:ea typeface="문체부 돋음체" panose="020B0609000101010101" pitchFamily="49" charset="-127"/>
              </a:rPr>
              <a:t>빈도수</a:t>
            </a:r>
            <a:r>
              <a:rPr lang="ko-KR" altLang="en-US" dirty="0">
                <a:latin typeface="+mn-ea"/>
                <a:ea typeface="문체부 돋음체" panose="020B0609000101010101" pitchFamily="49" charset="-127"/>
              </a:rPr>
              <a:t>에 따라 부여하여</a:t>
            </a:r>
            <a:r>
              <a:rPr lang="en-US" altLang="ko-KR" dirty="0">
                <a:latin typeface="+mn-ea"/>
                <a:ea typeface="문체부 돋음체" panose="020B0609000101010101" pitchFamily="49" charset="-127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문체부 돋음체" panose="020B0609000101010101" pitchFamily="49" charset="-127"/>
              </a:rPr>
              <a:t>빈도가 높은 글자에게 적은 </a:t>
            </a:r>
            <a:r>
              <a:rPr lang="ko-KR" altLang="en-US" dirty="0" err="1">
                <a:latin typeface="+mn-ea"/>
                <a:ea typeface="문체부 돋음체" panose="020B0609000101010101" pitchFamily="49" charset="-127"/>
              </a:rPr>
              <a:t>비트갯수를</a:t>
            </a:r>
            <a:r>
              <a:rPr lang="en-US" altLang="ko-KR" dirty="0">
                <a:latin typeface="+mn-ea"/>
                <a:ea typeface="문체부 돋음체" panose="020B0609000101010101" pitchFamily="49" charset="-127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문체부 돋음체" panose="020B0609000101010101" pitchFamily="49" charset="-127"/>
              </a:rPr>
              <a:t>낮은 글자에게 높은 </a:t>
            </a:r>
            <a:r>
              <a:rPr lang="ko-KR" altLang="en-US" dirty="0" err="1">
                <a:latin typeface="+mn-ea"/>
                <a:ea typeface="문체부 돋음체" panose="020B0609000101010101" pitchFamily="49" charset="-127"/>
              </a:rPr>
              <a:t>비트갯수를</a:t>
            </a:r>
            <a:r>
              <a:rPr lang="ko-KR" altLang="en-US" dirty="0">
                <a:latin typeface="+mn-ea"/>
                <a:ea typeface="문체부 돋음체" panose="020B0609000101010101" pitchFamily="49" charset="-127"/>
              </a:rPr>
              <a:t> 주어</a:t>
            </a:r>
            <a:endParaRPr lang="en-US" altLang="ko-KR" dirty="0">
              <a:latin typeface="+mn-ea"/>
              <a:ea typeface="문체부 돋음체" panose="020B0609000101010101" pitchFamily="49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u="sng" dirty="0">
                <a:latin typeface="+mn-ea"/>
                <a:ea typeface="문체부 돋음체" panose="020B0609000101010101" pitchFamily="49" charset="-127"/>
              </a:rPr>
              <a:t>데이터 손실이 없는 압축</a:t>
            </a:r>
            <a:r>
              <a:rPr lang="ko-KR" altLang="en-US" dirty="0">
                <a:latin typeface="+mn-ea"/>
                <a:ea typeface="문체부 돋음체" panose="020B0609000101010101" pitchFamily="49" charset="-127"/>
              </a:rPr>
              <a:t>을 하는 코딩 방법이다</a:t>
            </a:r>
            <a:r>
              <a:rPr lang="en-US" altLang="ko-KR" dirty="0">
                <a:latin typeface="+mn-ea"/>
                <a:ea typeface="문체부 돋음체" panose="020B0609000101010101" pitchFamily="49" charset="-127"/>
              </a:rPr>
              <a:t>.</a:t>
            </a:r>
            <a:endParaRPr lang="en-US" dirty="0">
              <a:latin typeface="+mn-ea"/>
              <a:ea typeface="문체부 돋음체" panose="020B0609000101010101" pitchFamily="49" charset="-12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AE0CEA-1279-48BC-97F8-D1BA5A5A5763}"/>
              </a:ext>
            </a:extLst>
          </p:cNvPr>
          <p:cNvCxnSpPr>
            <a:cxnSpLocks/>
          </p:cNvCxnSpPr>
          <p:nvPr/>
        </p:nvCxnSpPr>
        <p:spPr>
          <a:xfrm>
            <a:off x="457200" y="1700808"/>
            <a:ext cx="0" cy="4392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229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59CFC6-F83D-49C2-980C-B8AEE6E8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548688"/>
          </a:xfrm>
        </p:spPr>
        <p:txBody>
          <a:bodyPr/>
          <a:lstStyle/>
          <a:p>
            <a:r>
              <a:rPr lang="ko-KR" altLang="en-US" dirty="0"/>
              <a:t>예를 들어보자</a:t>
            </a:r>
            <a:r>
              <a:rPr lang="en-US" altLang="ko-KR" dirty="0"/>
              <a:t>.</a:t>
            </a:r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5D154DAF-E8C4-4710-A575-579F7BCED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544902"/>
              </p:ext>
            </p:extLst>
          </p:nvPr>
        </p:nvGraphicFramePr>
        <p:xfrm>
          <a:off x="2971800" y="620688"/>
          <a:ext cx="599269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38">
                  <a:extLst>
                    <a:ext uri="{9D8B030D-6E8A-4147-A177-3AD203B41FA5}">
                      <a16:colId xmlns:a16="http://schemas.microsoft.com/office/drawing/2014/main" val="1659245284"/>
                    </a:ext>
                  </a:extLst>
                </a:gridCol>
                <a:gridCol w="1198538">
                  <a:extLst>
                    <a:ext uri="{9D8B030D-6E8A-4147-A177-3AD203B41FA5}">
                      <a16:colId xmlns:a16="http://schemas.microsoft.com/office/drawing/2014/main" val="2380451367"/>
                    </a:ext>
                  </a:extLst>
                </a:gridCol>
                <a:gridCol w="1198538">
                  <a:extLst>
                    <a:ext uri="{9D8B030D-6E8A-4147-A177-3AD203B41FA5}">
                      <a16:colId xmlns:a16="http://schemas.microsoft.com/office/drawing/2014/main" val="3540537799"/>
                    </a:ext>
                  </a:extLst>
                </a:gridCol>
                <a:gridCol w="1198538">
                  <a:extLst>
                    <a:ext uri="{9D8B030D-6E8A-4147-A177-3AD203B41FA5}">
                      <a16:colId xmlns:a16="http://schemas.microsoft.com/office/drawing/2014/main" val="1716971792"/>
                    </a:ext>
                  </a:extLst>
                </a:gridCol>
                <a:gridCol w="1198538">
                  <a:extLst>
                    <a:ext uri="{9D8B030D-6E8A-4147-A177-3AD203B41FA5}">
                      <a16:colId xmlns:a16="http://schemas.microsoft.com/office/drawing/2014/main" val="10044537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글자</a:t>
                      </a:r>
                      <a:endParaRPr 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빈도수</a:t>
                      </a:r>
                      <a:endParaRPr 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동일한 문자 길이로 코드화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309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비트코드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비트갯수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비트수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78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6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55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666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42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5606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합계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100%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925323"/>
                  </a:ext>
                </a:extLst>
              </a:tr>
            </a:tbl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F20246-13D5-4755-8737-4DA4F0121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1412776"/>
            <a:ext cx="2139696" cy="4961391"/>
          </a:xfrm>
        </p:spPr>
        <p:txBody>
          <a:bodyPr>
            <a:normAutofit/>
          </a:bodyPr>
          <a:lstStyle/>
          <a:p>
            <a:r>
              <a:rPr lang="ko-KR" altLang="en-US" dirty="0"/>
              <a:t>   글자 </a:t>
            </a:r>
            <a:r>
              <a:rPr lang="en-US" altLang="ko-KR" dirty="0"/>
              <a:t>A, B, C, D, E</a:t>
            </a:r>
            <a:r>
              <a:rPr lang="ko-KR" altLang="en-US" dirty="0"/>
              <a:t>의 빈도수를 정하고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이를 두가지 방법으로 코드화를 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  위 표와 같이 동일한 문자 길이로 코드화를 하면 </a:t>
            </a:r>
            <a:endParaRPr lang="en-US" altLang="ko-KR" dirty="0"/>
          </a:p>
          <a:p>
            <a:r>
              <a:rPr lang="ko-KR" altLang="en-US" dirty="0"/>
              <a:t>합계</a:t>
            </a:r>
            <a:r>
              <a:rPr lang="en-US" altLang="ko-KR" dirty="0"/>
              <a:t>, </a:t>
            </a:r>
            <a:r>
              <a:rPr lang="ko-KR" altLang="en-US" dirty="0"/>
              <a:t>코드의 무게가 </a:t>
            </a:r>
            <a:r>
              <a:rPr lang="en-US" altLang="ko-KR" dirty="0"/>
              <a:t>3</a:t>
            </a:r>
            <a:r>
              <a:rPr lang="ko-KR" altLang="en-US" dirty="0"/>
              <a:t>이 나온다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  아래 표와 같이 빈도수로 코드화를 하면</a:t>
            </a:r>
            <a:endParaRPr lang="en-US" altLang="ko-KR" dirty="0"/>
          </a:p>
          <a:p>
            <a:r>
              <a:rPr lang="ko-KR" altLang="en-US" dirty="0"/>
              <a:t>가장 흔히 나오는 문자에게 적은 </a:t>
            </a:r>
            <a:r>
              <a:rPr lang="ko-KR" altLang="en-US" dirty="0" err="1"/>
              <a:t>비트갯수를</a:t>
            </a:r>
            <a:r>
              <a:rPr lang="ko-KR" altLang="en-US" dirty="0"/>
              <a:t> 부여하여</a:t>
            </a:r>
            <a:endParaRPr lang="en-US" altLang="ko-KR" dirty="0"/>
          </a:p>
          <a:p>
            <a:r>
              <a:rPr lang="ko-KR" altLang="en-US" dirty="0"/>
              <a:t>합계</a:t>
            </a:r>
            <a:r>
              <a:rPr lang="en-US" altLang="ko-KR" dirty="0"/>
              <a:t>, </a:t>
            </a:r>
            <a:r>
              <a:rPr lang="ko-KR" altLang="en-US" dirty="0"/>
              <a:t>코드의 무게가 </a:t>
            </a:r>
            <a:r>
              <a:rPr lang="en-US" altLang="ko-KR" dirty="0"/>
              <a:t>2.25</a:t>
            </a:r>
            <a:r>
              <a:rPr lang="ko-KR" altLang="en-US" dirty="0"/>
              <a:t>가 나왔다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  데이터 손실 없이 </a:t>
            </a:r>
            <a:r>
              <a:rPr lang="en-US" altLang="ko-KR" dirty="0"/>
              <a:t>25%</a:t>
            </a:r>
            <a:r>
              <a:rPr lang="ko-KR" altLang="en-US" dirty="0"/>
              <a:t>이 압축되었다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B0DB0313-A0F8-4E76-A6BA-6A1257D69B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8921943"/>
              </p:ext>
            </p:extLst>
          </p:nvPr>
        </p:nvGraphicFramePr>
        <p:xfrm>
          <a:off x="2971800" y="3580407"/>
          <a:ext cx="599269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38">
                  <a:extLst>
                    <a:ext uri="{9D8B030D-6E8A-4147-A177-3AD203B41FA5}">
                      <a16:colId xmlns:a16="http://schemas.microsoft.com/office/drawing/2014/main" val="1659245284"/>
                    </a:ext>
                  </a:extLst>
                </a:gridCol>
                <a:gridCol w="1198538">
                  <a:extLst>
                    <a:ext uri="{9D8B030D-6E8A-4147-A177-3AD203B41FA5}">
                      <a16:colId xmlns:a16="http://schemas.microsoft.com/office/drawing/2014/main" val="2380451367"/>
                    </a:ext>
                  </a:extLst>
                </a:gridCol>
                <a:gridCol w="1198538">
                  <a:extLst>
                    <a:ext uri="{9D8B030D-6E8A-4147-A177-3AD203B41FA5}">
                      <a16:colId xmlns:a16="http://schemas.microsoft.com/office/drawing/2014/main" val="3540537799"/>
                    </a:ext>
                  </a:extLst>
                </a:gridCol>
                <a:gridCol w="1198538">
                  <a:extLst>
                    <a:ext uri="{9D8B030D-6E8A-4147-A177-3AD203B41FA5}">
                      <a16:colId xmlns:a16="http://schemas.microsoft.com/office/drawing/2014/main" val="1716971792"/>
                    </a:ext>
                  </a:extLst>
                </a:gridCol>
                <a:gridCol w="1198538">
                  <a:extLst>
                    <a:ext uri="{9D8B030D-6E8A-4147-A177-3AD203B41FA5}">
                      <a16:colId xmlns:a16="http://schemas.microsoft.com/office/drawing/2014/main" val="10044537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글자</a:t>
                      </a:r>
                      <a:endParaRPr 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빈도수</a:t>
                      </a:r>
                      <a:endParaRPr 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빈도수 순으로 코드화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309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비트코드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비트갯수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비트수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78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6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55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666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42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5606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합계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/>
                        <a:t>75%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925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95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6CCCEB0-072A-41E2-9CA9-6145060F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허프만</a:t>
            </a:r>
            <a:r>
              <a:rPr lang="ko-KR" altLang="en-US" dirty="0"/>
              <a:t> 코드 원리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BF2012-F123-4EDE-A1F7-0AC15EB72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099"/>
          <a:stretch/>
        </p:blipFill>
        <p:spPr>
          <a:xfrm>
            <a:off x="1093755" y="1412776"/>
            <a:ext cx="6956490" cy="360040"/>
          </a:xfr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38CF42CA-E570-4E80-B809-AA122E392B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4" r="55279" b="65492"/>
          <a:stretch/>
        </p:blipFill>
        <p:spPr>
          <a:xfrm>
            <a:off x="1100970" y="1772816"/>
            <a:ext cx="3110990" cy="1440160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8D12992C-066C-43D2-AAAB-B8BD6A18CB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08" r="55279" b="37888"/>
          <a:stretch/>
        </p:blipFill>
        <p:spPr>
          <a:xfrm>
            <a:off x="1103162" y="3212976"/>
            <a:ext cx="3110990" cy="1440160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3952D4C1-81E9-4BED-A0BE-8D3087B9B4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13" r="55279" b="10283"/>
          <a:stretch/>
        </p:blipFill>
        <p:spPr>
          <a:xfrm>
            <a:off x="1100970" y="4653135"/>
            <a:ext cx="3110990" cy="1440159"/>
          </a:xfrm>
          <a:prstGeom prst="rect">
            <a:avLst/>
          </a:prstGeom>
        </p:spPr>
      </p:pic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24BE209C-4710-4952-AA0B-97377C0742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66" t="6904" r="457" b="61352"/>
          <a:stretch/>
        </p:blipFill>
        <p:spPr>
          <a:xfrm>
            <a:off x="4202552" y="1772816"/>
            <a:ext cx="3838285" cy="1656184"/>
          </a:xfrm>
          <a:prstGeom prst="rect">
            <a:avLst/>
          </a:prstGeom>
        </p:spPr>
      </p:pic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AAAC52BB-C9F2-4CF3-B3E9-F5CE90091C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66" t="33128" r="457" b="10283"/>
          <a:stretch/>
        </p:blipFill>
        <p:spPr>
          <a:xfrm>
            <a:off x="4202551" y="3140968"/>
            <a:ext cx="3838285" cy="2952324"/>
          </a:xfrm>
          <a:prstGeom prst="rect">
            <a:avLst/>
          </a:prstGeom>
        </p:spPr>
      </p:pic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8C138DED-E74A-4D7B-A213-6F565C246E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8890" r="310" b="68"/>
          <a:stretch/>
        </p:blipFill>
        <p:spPr>
          <a:xfrm>
            <a:off x="1105993" y="6093294"/>
            <a:ext cx="6934844" cy="57606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8DF2A06-7E79-403E-99C7-92DBAC409931}"/>
              </a:ext>
            </a:extLst>
          </p:cNvPr>
          <p:cNvSpPr/>
          <p:nvPr/>
        </p:nvSpPr>
        <p:spPr>
          <a:xfrm>
            <a:off x="4202552" y="4653135"/>
            <a:ext cx="1233544" cy="144015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43D3A655-DF6A-41F8-907F-9200863C87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66" t="61861" r="38012" b="11915"/>
          <a:stretch/>
        </p:blipFill>
        <p:spPr>
          <a:xfrm>
            <a:off x="4206997" y="4653133"/>
            <a:ext cx="1225890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79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5C4C-B93A-4B8E-A543-7527D57E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프로그램 기본 원리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FB41-4523-46B6-ACE0-DF171E9C7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우선순위 큐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dirty="0"/>
              <a:t>Huffman coding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9C9284-2F80-4202-99E3-8CBADA2C8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61" y="4378782"/>
            <a:ext cx="2798359" cy="202499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1A6F02-A8BD-4248-8779-E27D51FE7C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913" y="1700809"/>
            <a:ext cx="2272097" cy="18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B0CA30-6E0C-4865-87B2-1980DBECFBEB}"/>
              </a:ext>
            </a:extLst>
          </p:cNvPr>
          <p:cNvSpPr txBox="1"/>
          <p:nvPr/>
        </p:nvSpPr>
        <p:spPr>
          <a:xfrm>
            <a:off x="4572000" y="5517232"/>
            <a:ext cx="4464496" cy="8640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#define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F008A"/>
                </a:solidFill>
                <a:latin typeface="Consolas" panose="020B0609020204030204" pitchFamily="49" charset="0"/>
              </a:rPr>
              <a:t>MAX_ELEMENT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200</a:t>
            </a:r>
          </a:p>
          <a:p>
            <a:r>
              <a:rPr lang="en-US" sz="1100" dirty="0">
                <a:solidFill>
                  <a:srgbClr val="4D5156"/>
                </a:solidFill>
                <a:latin typeface="Roboto"/>
              </a:rPr>
              <a:t>⋮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2C9FD8-7280-4713-A846-F92E94B5D83F}"/>
              </a:ext>
            </a:extLst>
          </p:cNvPr>
          <p:cNvCxnSpPr>
            <a:cxnSpLocks/>
          </p:cNvCxnSpPr>
          <p:nvPr/>
        </p:nvCxnSpPr>
        <p:spPr>
          <a:xfrm>
            <a:off x="4355976" y="4725144"/>
            <a:ext cx="0" cy="165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A23F141-FAB4-4DC5-8A84-2FEB98E610F6}"/>
              </a:ext>
            </a:extLst>
          </p:cNvPr>
          <p:cNvSpPr/>
          <p:nvPr/>
        </p:nvSpPr>
        <p:spPr>
          <a:xfrm>
            <a:off x="4571999" y="6248280"/>
            <a:ext cx="4464493" cy="27275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4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367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5946CE-DEEA-4F4E-98CE-E22941013A2C}"/>
              </a:ext>
            </a:extLst>
          </p:cNvPr>
          <p:cNvGrpSpPr/>
          <p:nvPr/>
        </p:nvGrpSpPr>
        <p:grpSpPr>
          <a:xfrm>
            <a:off x="4572000" y="916360"/>
            <a:ext cx="4466353" cy="5464968"/>
            <a:chOff x="4572000" y="635968"/>
            <a:chExt cx="4466353" cy="546496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0" y="893440"/>
              <a:ext cx="4464496" cy="49838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4D5156"/>
                  </a:solidFill>
                  <a:latin typeface="Roboto"/>
                </a:rPr>
                <a:t>⋮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typedef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struct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weight;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struct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*left;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struct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*right;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typedef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struct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key;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 </a:t>
              </a:r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typedef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struct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heap[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MAX_ELEMENT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create()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*)malloc(</a:t>
              </a:r>
              <a:r>
                <a:rPr lang="en-US" sz="11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sizeof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init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0;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r>
                <a:rPr lang="en-US" sz="1100" dirty="0">
                  <a:solidFill>
                    <a:srgbClr val="4D5156"/>
                  </a:solidFill>
                  <a:latin typeface="Roboto"/>
                </a:rPr>
                <a:t>⋮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0" y="635968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B20F5D-A8F3-4FF8-831A-C73D92B33AD2}"/>
                </a:ext>
              </a:extLst>
            </p:cNvPr>
            <p:cNvSpPr/>
            <p:nvPr/>
          </p:nvSpPr>
          <p:spPr>
            <a:xfrm>
              <a:off x="4573860" y="5828184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>
                <a:ea typeface="문체부 돋음체" panose="020B0609000101010101" pitchFamily="49" charset="-127"/>
              </a:rPr>
              <a:t>우선순위 큐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027889-23A1-424C-BEDB-2375D7F97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TreeNode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element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트리에 노드를 삽입</a:t>
            </a:r>
            <a:r>
              <a:rPr lang="en-US" altLang="ko-KR" sz="1600" dirty="0"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latin typeface="Consolas" panose="020B0609020204030204" pitchFamily="49" charset="0"/>
              </a:rPr>
              <a:t>연결</a:t>
            </a:r>
            <a:r>
              <a:rPr lang="en-US" altLang="ko-KR" sz="1600" dirty="0">
                <a:latin typeface="Consolas" panose="020B0609020204030204" pitchFamily="49" charset="0"/>
              </a:rPr>
              <a:t>)</a:t>
            </a:r>
            <a:r>
              <a:rPr lang="ko-KR" altLang="en-US" sz="1600" dirty="0">
                <a:latin typeface="Consolas" panose="020B0609020204030204" pitchFamily="49" charset="0"/>
              </a:rPr>
              <a:t>하기 위해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추가로 값을 지정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HeapType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HeapType</a:t>
            </a:r>
            <a:r>
              <a:rPr lang="en-US" sz="1600" dirty="0">
                <a:latin typeface="Consolas" panose="020B0609020204030204" pitchFamily="49" charset="0"/>
              </a:rPr>
              <a:t>* create()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Malloc – </a:t>
            </a:r>
            <a:r>
              <a:rPr lang="ko-KR" altLang="en-US" sz="1600" dirty="0">
                <a:latin typeface="Consolas" panose="020B0609020204030204" pitchFamily="49" charset="0"/>
              </a:rPr>
              <a:t>메모리 할당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init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HeapType</a:t>
            </a:r>
            <a:r>
              <a:rPr lang="en-US" sz="1600" dirty="0">
                <a:latin typeface="Consolas" panose="020B0609020204030204" pitchFamily="49" charset="0"/>
              </a:rPr>
              <a:t>*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</a:rPr>
              <a:t>h)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초기화</a:t>
            </a:r>
            <a:endParaRPr lang="en-US" sz="1600" dirty="0">
              <a:latin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EE5BA68-345F-430B-88FA-4B99E6C2D121}"/>
              </a:ext>
            </a:extLst>
          </p:cNvPr>
          <p:cNvGrpSpPr/>
          <p:nvPr/>
        </p:nvGrpSpPr>
        <p:grpSpPr>
          <a:xfrm>
            <a:off x="598210" y="1700808"/>
            <a:ext cx="1957566" cy="288032"/>
            <a:chOff x="598210" y="1772816"/>
            <a:chExt cx="1957566" cy="2880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6945C0B-083D-429A-B5BE-D636100055DF}"/>
                </a:ext>
              </a:extLst>
            </p:cNvPr>
            <p:cNvSpPr/>
            <p:nvPr/>
          </p:nvSpPr>
          <p:spPr>
            <a:xfrm>
              <a:off x="971600" y="1772816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303779-EE39-46CB-8FC2-54BC1BE9E3A1}"/>
                </a:ext>
              </a:extLst>
            </p:cNvPr>
            <p:cNvSpPr/>
            <p:nvPr/>
          </p:nvSpPr>
          <p:spPr>
            <a:xfrm>
              <a:off x="1567355" y="1772816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char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14BD7D-7675-4C4C-8C1A-977C0F22272B}"/>
                </a:ext>
              </a:extLst>
            </p:cNvPr>
            <p:cNvSpPr/>
            <p:nvPr/>
          </p:nvSpPr>
          <p:spPr>
            <a:xfrm>
              <a:off x="2163110" y="1772816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12163E-30F4-46C9-9DD9-40C709ED4FBF}"/>
                </a:ext>
              </a:extLst>
            </p:cNvPr>
            <p:cNvSpPr/>
            <p:nvPr/>
          </p:nvSpPr>
          <p:spPr>
            <a:xfrm>
              <a:off x="775267" y="1772816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C62F79D-8CE8-48C3-B29A-CADEB07BA9CC}"/>
                </a:ext>
              </a:extLst>
            </p:cNvPr>
            <p:cNvCxnSpPr>
              <a:cxnSpLocks/>
            </p:cNvCxnSpPr>
            <p:nvPr/>
          </p:nvCxnSpPr>
          <p:spPr>
            <a:xfrm>
              <a:off x="2251431" y="1916832"/>
              <a:ext cx="304345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B9B5883-5A79-4CD9-8ED4-750F93DA9B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210" y="1916832"/>
              <a:ext cx="280228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6A5791-A320-41E8-A2C4-3B6BA5FD904C}"/>
              </a:ext>
            </a:extLst>
          </p:cNvPr>
          <p:cNvGrpSpPr/>
          <p:nvPr/>
        </p:nvGrpSpPr>
        <p:grpSpPr>
          <a:xfrm>
            <a:off x="323528" y="3708039"/>
            <a:ext cx="3960398" cy="792088"/>
            <a:chOff x="323528" y="3708039"/>
            <a:chExt cx="3960398" cy="79208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05503D-608D-4043-9C7D-6B396DFE9AC2}"/>
                </a:ext>
              </a:extLst>
            </p:cNvPr>
            <p:cNvSpPr/>
            <p:nvPr/>
          </p:nvSpPr>
          <p:spPr>
            <a:xfrm>
              <a:off x="1734359" y="3708039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2137EB5-9368-49BC-9F47-06A6D5841962}"/>
                </a:ext>
              </a:extLst>
            </p:cNvPr>
            <p:cNvSpPr/>
            <p:nvPr/>
          </p:nvSpPr>
          <p:spPr>
            <a:xfrm>
              <a:off x="2330114" y="3708039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char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847C7C1-181D-43F3-8490-C635EAB0C251}"/>
                </a:ext>
              </a:extLst>
            </p:cNvPr>
            <p:cNvSpPr/>
            <p:nvPr/>
          </p:nvSpPr>
          <p:spPr>
            <a:xfrm>
              <a:off x="2925869" y="3708039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B879D75-B869-4DCF-91C6-5A6FF74DC6A1}"/>
                </a:ext>
              </a:extLst>
            </p:cNvPr>
            <p:cNvSpPr/>
            <p:nvPr/>
          </p:nvSpPr>
          <p:spPr>
            <a:xfrm>
              <a:off x="1538026" y="3708039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DC594B4-8F5D-476F-AFE8-43F1F42E8074}"/>
                </a:ext>
              </a:extLst>
            </p:cNvPr>
            <p:cNvCxnSpPr>
              <a:cxnSpLocks/>
            </p:cNvCxnSpPr>
            <p:nvPr/>
          </p:nvCxnSpPr>
          <p:spPr>
            <a:xfrm>
              <a:off x="3014190" y="3852055"/>
              <a:ext cx="266939" cy="36004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5661A25-2957-4E04-929D-6C4452B8A5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1331" y="3852055"/>
              <a:ext cx="289866" cy="36004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625785B-4F06-411B-A39F-A430CC526741}"/>
                </a:ext>
              </a:extLst>
            </p:cNvPr>
            <p:cNvSpPr/>
            <p:nvPr/>
          </p:nvSpPr>
          <p:spPr>
            <a:xfrm>
              <a:off x="755576" y="4212095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4B3A997-1C3B-46F6-B5FE-07D3C5CB2738}"/>
                </a:ext>
              </a:extLst>
            </p:cNvPr>
            <p:cNvSpPr/>
            <p:nvPr/>
          </p:nvSpPr>
          <p:spPr>
            <a:xfrm>
              <a:off x="1351331" y="4212095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char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C5F3206-A601-4D48-9094-264AFE239EA3}"/>
                </a:ext>
              </a:extLst>
            </p:cNvPr>
            <p:cNvSpPr/>
            <p:nvPr/>
          </p:nvSpPr>
          <p:spPr>
            <a:xfrm>
              <a:off x="1947086" y="4212095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4EF5B80-7938-427A-8BFD-AC70241326F6}"/>
                </a:ext>
              </a:extLst>
            </p:cNvPr>
            <p:cNvSpPr/>
            <p:nvPr/>
          </p:nvSpPr>
          <p:spPr>
            <a:xfrm>
              <a:off x="559243" y="4212095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A954E4C-C411-4C73-A2F3-1517BBE585B9}"/>
                </a:ext>
              </a:extLst>
            </p:cNvPr>
            <p:cNvCxnSpPr>
              <a:cxnSpLocks/>
            </p:cNvCxnSpPr>
            <p:nvPr/>
          </p:nvCxnSpPr>
          <p:spPr>
            <a:xfrm>
              <a:off x="2035407" y="4356111"/>
              <a:ext cx="274720" cy="14401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DEC2496-1FE1-4158-8E75-0DF6BA505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528" y="4356111"/>
              <a:ext cx="338886" cy="14401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0FABE21-08A6-4A6B-8E7E-41886379A3D2}"/>
                </a:ext>
              </a:extLst>
            </p:cNvPr>
            <p:cNvSpPr/>
            <p:nvPr/>
          </p:nvSpPr>
          <p:spPr>
            <a:xfrm>
              <a:off x="2685374" y="4212095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int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907B9A-C42D-4327-BBBA-9AA25563ECB9}"/>
                </a:ext>
              </a:extLst>
            </p:cNvPr>
            <p:cNvSpPr/>
            <p:nvPr/>
          </p:nvSpPr>
          <p:spPr>
            <a:xfrm>
              <a:off x="3281129" y="4212095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char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AD86846-7516-4391-B3FA-859EAEF1CDBF}"/>
                </a:ext>
              </a:extLst>
            </p:cNvPr>
            <p:cNvSpPr/>
            <p:nvPr/>
          </p:nvSpPr>
          <p:spPr>
            <a:xfrm>
              <a:off x="3876884" y="4212095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A94B7C0-5036-49BC-92C1-3E87F8872D1F}"/>
                </a:ext>
              </a:extLst>
            </p:cNvPr>
            <p:cNvSpPr/>
            <p:nvPr/>
          </p:nvSpPr>
          <p:spPr>
            <a:xfrm>
              <a:off x="2489041" y="4212095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62B4DD3-8405-4063-99AF-033F40F2F0A7}"/>
                </a:ext>
              </a:extLst>
            </p:cNvPr>
            <p:cNvCxnSpPr>
              <a:cxnSpLocks/>
            </p:cNvCxnSpPr>
            <p:nvPr/>
          </p:nvCxnSpPr>
          <p:spPr>
            <a:xfrm>
              <a:off x="3965205" y="4356111"/>
              <a:ext cx="318721" cy="14401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EE1B3FF-8A66-4B54-B74B-93FF34489E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0114" y="4356111"/>
              <a:ext cx="262098" cy="14401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31B20C8-4A42-4E93-B570-06FAAD3DC6FB}"/>
              </a:ext>
            </a:extLst>
          </p:cNvPr>
          <p:cNvGrpSpPr/>
          <p:nvPr/>
        </p:nvGrpSpPr>
        <p:grpSpPr>
          <a:xfrm>
            <a:off x="576236" y="3048849"/>
            <a:ext cx="1957566" cy="288032"/>
            <a:chOff x="598210" y="1772816"/>
            <a:chExt cx="1957566" cy="28803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98B18B7-9CEF-41EA-8D89-16A3A8718F61}"/>
                </a:ext>
              </a:extLst>
            </p:cNvPr>
            <p:cNvSpPr/>
            <p:nvPr/>
          </p:nvSpPr>
          <p:spPr>
            <a:xfrm>
              <a:off x="971600" y="1772816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int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7AC7237-C30D-4AA4-88A5-366991C25CD5}"/>
                </a:ext>
              </a:extLst>
            </p:cNvPr>
            <p:cNvSpPr/>
            <p:nvPr/>
          </p:nvSpPr>
          <p:spPr>
            <a:xfrm>
              <a:off x="1567355" y="1772816"/>
              <a:ext cx="576064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char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896881F-49E4-4BBD-B699-C45C083CE99F}"/>
                </a:ext>
              </a:extLst>
            </p:cNvPr>
            <p:cNvSpPr/>
            <p:nvPr/>
          </p:nvSpPr>
          <p:spPr>
            <a:xfrm>
              <a:off x="2163110" y="1772816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1419896-C2B5-46AD-B74B-6DAE5838C8FF}"/>
                </a:ext>
              </a:extLst>
            </p:cNvPr>
            <p:cNvSpPr/>
            <p:nvPr/>
          </p:nvSpPr>
          <p:spPr>
            <a:xfrm>
              <a:off x="775267" y="1772816"/>
              <a:ext cx="176642" cy="28803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0B4A7719-4EC1-4304-B8E2-FC0712418CD7}"/>
                </a:ext>
              </a:extLst>
            </p:cNvPr>
            <p:cNvCxnSpPr>
              <a:cxnSpLocks/>
            </p:cNvCxnSpPr>
            <p:nvPr/>
          </p:nvCxnSpPr>
          <p:spPr>
            <a:xfrm>
              <a:off x="2251431" y="1916832"/>
              <a:ext cx="304345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CCAFDA5-0796-4DEE-809C-35FA134118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210" y="1916832"/>
              <a:ext cx="280228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D5DC244-5491-40E6-9025-4E0E93FD1EE6}"/>
              </a:ext>
            </a:extLst>
          </p:cNvPr>
          <p:cNvGrpSpPr/>
          <p:nvPr/>
        </p:nvGrpSpPr>
        <p:grpSpPr>
          <a:xfrm>
            <a:off x="3102511" y="2863176"/>
            <a:ext cx="928532" cy="689743"/>
            <a:chOff x="3124994" y="2852936"/>
            <a:chExt cx="928532" cy="68974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B45931A-9C65-43E0-9B3C-2CA4DD3B24FD}"/>
                </a:ext>
              </a:extLst>
            </p:cNvPr>
            <p:cNvSpPr/>
            <p:nvPr/>
          </p:nvSpPr>
          <p:spPr>
            <a:xfrm>
              <a:off x="3419872" y="2852936"/>
              <a:ext cx="304345" cy="28801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07CF074-2377-4143-9575-10BE290DC68F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 flipH="1">
              <a:off x="3332307" y="3098771"/>
              <a:ext cx="132135" cy="1861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733026A-4094-4B8F-9ED3-1CCD61B4CDDC}"/>
                </a:ext>
              </a:extLst>
            </p:cNvPr>
            <p:cNvCxnSpPr>
              <a:cxnSpLocks/>
              <a:stCxn id="65" idx="5"/>
            </p:cNvCxnSpPr>
            <p:nvPr/>
          </p:nvCxnSpPr>
          <p:spPr>
            <a:xfrm>
              <a:off x="3679647" y="3098771"/>
              <a:ext cx="132135" cy="1862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DA54F7B-0B16-456B-A96B-1B86E9945150}"/>
                </a:ext>
              </a:extLst>
            </p:cNvPr>
            <p:cNvSpPr/>
            <p:nvPr/>
          </p:nvSpPr>
          <p:spPr>
            <a:xfrm>
              <a:off x="3124994" y="3254665"/>
              <a:ext cx="304345" cy="28801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D3B6803-05AF-44BF-9326-03850DE40EB0}"/>
                </a:ext>
              </a:extLst>
            </p:cNvPr>
            <p:cNvSpPr/>
            <p:nvPr/>
          </p:nvSpPr>
          <p:spPr>
            <a:xfrm>
              <a:off x="3749181" y="3242805"/>
              <a:ext cx="304345" cy="28801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3FCE816-742C-427D-97DC-296A01A1D954}"/>
              </a:ext>
            </a:extLst>
          </p:cNvPr>
          <p:cNvCxnSpPr>
            <a:cxnSpLocks/>
          </p:cNvCxnSpPr>
          <p:nvPr/>
        </p:nvCxnSpPr>
        <p:spPr>
          <a:xfrm>
            <a:off x="2662562" y="3190209"/>
            <a:ext cx="351628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C41B1B2-4627-4402-86B9-211013970C6E}"/>
              </a:ext>
            </a:extLst>
          </p:cNvPr>
          <p:cNvCxnSpPr>
            <a:cxnSpLocks/>
          </p:cNvCxnSpPr>
          <p:nvPr/>
        </p:nvCxnSpPr>
        <p:spPr>
          <a:xfrm flipH="1">
            <a:off x="3406857" y="3552919"/>
            <a:ext cx="162304" cy="26380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03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63B262-308F-4A7F-9A19-B522CDFBEDAE}"/>
              </a:ext>
            </a:extLst>
          </p:cNvPr>
          <p:cNvGrpSpPr/>
          <p:nvPr/>
        </p:nvGrpSpPr>
        <p:grpSpPr>
          <a:xfrm>
            <a:off x="4571999" y="635968"/>
            <a:ext cx="4464497" cy="5885064"/>
            <a:chOff x="4571999" y="635968"/>
            <a:chExt cx="4464497" cy="588506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0" y="893440"/>
              <a:ext cx="4464496" cy="5487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insert_min_heap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item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++(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while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!= 1) &amp;&amp; (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item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/ 2].key)) {</a:t>
              </a:r>
            </a:p>
            <a:p>
              <a:r>
                <a:rPr lang="pt-BR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h</a:t>
              </a:r>
              <a:r>
                <a:rPr lang="pt-BR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-&gt;heap[i] = </a:t>
              </a:r>
              <a:r>
                <a:rPr lang="pt-BR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pt-BR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-&gt;heap[i / 2];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/= 2;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item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delete_min_heap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parent, child;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item, temp;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item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-&gt;heap[1];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temp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)--];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parent = 1;  child = 2;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while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(child &lt;=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if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((child &lt;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&amp;&amp;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   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-&gt;heap[child].key) &gt;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-&gt;heap[child + 1].key)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child++;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if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temp.key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-&gt;heap[child].key)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break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-&gt;heap[parent]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-&gt;heap[child];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parent = child;  child *= 2;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-&gt;heap[parent] = temp;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item;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  <a:p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0" y="635968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B20F5D-A8F3-4FF8-831A-C73D92B33AD2}"/>
                </a:ext>
              </a:extLst>
            </p:cNvPr>
            <p:cNvSpPr/>
            <p:nvPr/>
          </p:nvSpPr>
          <p:spPr>
            <a:xfrm>
              <a:off x="4571999" y="6248280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>
                <a:ea typeface="문체부 돋음체" panose="020B0609000101010101" pitchFamily="49" charset="-127"/>
              </a:rPr>
              <a:t>우선순위 큐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E91BAC-9938-4C20-AEBF-83CCDE398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insert_min_heap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최소 </a:t>
            </a:r>
            <a:r>
              <a:rPr lang="ko-KR" altLang="en-US" sz="1600" dirty="0" err="1">
                <a:latin typeface="Consolas" panose="020B0609020204030204" pitchFamily="49" charset="0"/>
              </a:rPr>
              <a:t>히프에</a:t>
            </a:r>
            <a:r>
              <a:rPr lang="ko-KR" altLang="en-US" sz="1600" dirty="0">
                <a:latin typeface="Consolas" panose="020B0609020204030204" pitchFamily="49" charset="0"/>
              </a:rPr>
              <a:t> 요소 삽입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 = ++(h-&gt;</a:t>
            </a:r>
            <a:r>
              <a:rPr lang="en-US" altLang="ko-KR" sz="1600" dirty="0" err="1">
                <a:latin typeface="Consolas" panose="020B0609020204030204" pitchFamily="49" charset="0"/>
              </a:rPr>
              <a:t>heap_size</a:t>
            </a:r>
            <a:r>
              <a:rPr lang="en-US" altLang="ko-KR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 err="1">
                <a:latin typeface="Consolas" panose="020B0609020204030204" pitchFamily="49" charset="0"/>
              </a:rPr>
              <a:t>heap_size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ko-KR" altLang="en-US" sz="1600" dirty="0">
                <a:latin typeface="Consolas" panose="020B0609020204030204" pitchFamily="49" charset="0"/>
              </a:rPr>
              <a:t>증가와 동시에 값을 받음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while ((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 != 1) &amp;&amp;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(</a:t>
            </a:r>
            <a:r>
              <a:rPr lang="en-US" altLang="ko-KR" sz="1600" dirty="0" err="1">
                <a:latin typeface="Consolas" panose="020B0609020204030204" pitchFamily="49" charset="0"/>
              </a:rPr>
              <a:t>item.key</a:t>
            </a:r>
            <a:r>
              <a:rPr lang="en-US" altLang="ko-KR" sz="1600" dirty="0">
                <a:latin typeface="Consolas" panose="020B0609020204030204" pitchFamily="49" charset="0"/>
              </a:rPr>
              <a:t> &lt; h-&gt;heap[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 / 2].key))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트리를 거슬러 올라가면서 부모 노드와 비교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h-&gt;heap[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] = h-&gt;heap[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 / 2];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 /= 2;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다음 높이로 이동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h-&gt;heap[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] = item;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새 노드 삽입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7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63B262-308F-4A7F-9A19-B522CDFBEDAE}"/>
              </a:ext>
            </a:extLst>
          </p:cNvPr>
          <p:cNvGrpSpPr/>
          <p:nvPr/>
        </p:nvGrpSpPr>
        <p:grpSpPr>
          <a:xfrm>
            <a:off x="4571999" y="635968"/>
            <a:ext cx="4464497" cy="5885064"/>
            <a:chOff x="4571999" y="635968"/>
            <a:chExt cx="4464497" cy="588506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0" y="893440"/>
              <a:ext cx="4464496" cy="5487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insert_min_heap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item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++(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while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!= 1) &amp;&amp; (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item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/ 2].key)) {</a:t>
              </a:r>
            </a:p>
            <a:p>
              <a:r>
                <a:rPr lang="pt-BR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h</a:t>
              </a:r>
              <a:r>
                <a:rPr lang="pt-BR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-&gt;heap[i] = </a:t>
              </a:r>
              <a:r>
                <a:rPr lang="pt-BR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pt-BR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-&gt;heap[i / 2];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/= 2;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item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delete_min_heap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parent, child;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item, temp;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item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-&gt;heap[1];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temp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)--];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parent = 1;  child = 2;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while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(child &lt;=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if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((child &lt;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heap_size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&amp;&amp;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   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-&gt;heap[child].key) &gt;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-&gt;heap[child + 1].key)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child++;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if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temp.key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-&gt;heap[child].key)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break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-&gt;heap[parent]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-&gt;heap[child];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parent = child;  child *= 2;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-&gt;heap[parent] = temp;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item;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  <a:p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0" y="635968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B20F5D-A8F3-4FF8-831A-C73D92B33AD2}"/>
                </a:ext>
              </a:extLst>
            </p:cNvPr>
            <p:cNvSpPr/>
            <p:nvPr/>
          </p:nvSpPr>
          <p:spPr>
            <a:xfrm>
              <a:off x="4571999" y="6248280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>
                <a:ea typeface="문체부 돋음체" panose="020B0609000101010101" pitchFamily="49" charset="-127"/>
              </a:rPr>
              <a:t>우선순위 큐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E91BAC-9938-4C20-AEBF-83CCDE398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4878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delete_min_heap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root</a:t>
            </a:r>
            <a:r>
              <a:rPr lang="ko-KR" altLang="en-US" sz="1600" dirty="0">
                <a:latin typeface="Consolas" panose="020B0609020204030204" pitchFamily="49" charset="0"/>
              </a:rPr>
              <a:t>가 뽑히면 그 다음 값이 자동으로 </a:t>
            </a:r>
            <a:r>
              <a:rPr lang="en-US" altLang="ko-KR" sz="1600" dirty="0">
                <a:latin typeface="Consolas" panose="020B0609020204030204" pitchFamily="49" charset="0"/>
              </a:rPr>
              <a:t>root</a:t>
            </a:r>
            <a:r>
              <a:rPr lang="ko-KR" altLang="en-US" sz="1600" dirty="0">
                <a:latin typeface="Consolas" panose="020B0609020204030204" pitchFamily="49" charset="0"/>
              </a:rPr>
              <a:t>가 되게 하는 알고리즘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item = h-&gt;heap[1];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return item;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root</a:t>
            </a:r>
            <a:r>
              <a:rPr lang="ko-KR" altLang="en-US" sz="1600" dirty="0">
                <a:latin typeface="Consolas" panose="020B0609020204030204" pitchFamily="49" charset="0"/>
              </a:rPr>
              <a:t>를 뽑아서 </a:t>
            </a:r>
            <a:r>
              <a:rPr lang="en-US" altLang="ko-KR" sz="1600" dirty="0">
                <a:latin typeface="Consolas" panose="020B0609020204030204" pitchFamily="49" charset="0"/>
              </a:rPr>
              <a:t>return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&gt;if ((child &lt; h-&gt;</a:t>
            </a:r>
            <a:r>
              <a:rPr lang="en-US" sz="1600" dirty="0" err="1">
                <a:latin typeface="Consolas" panose="020B0609020204030204" pitchFamily="49" charset="0"/>
              </a:rPr>
              <a:t>heap_size</a:t>
            </a:r>
            <a:r>
              <a:rPr lang="en-US" sz="1600" dirty="0">
                <a:latin typeface="Consolas" panose="020B0609020204030204" pitchFamily="49" charset="0"/>
              </a:rPr>
              <a:t>) &amp;&amp;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(h-&gt;heap[child].key) &gt;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h-&gt;heap[child + 1].key)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child++;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자식 노드 중 더 큰 노드를 선택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&gt;if(</a:t>
            </a:r>
            <a:r>
              <a:rPr lang="en-US" sz="1600" dirty="0" err="1">
                <a:latin typeface="Consolas" panose="020B0609020204030204" pitchFamily="49" charset="0"/>
              </a:rPr>
              <a:t>temp.key</a:t>
            </a:r>
            <a:r>
              <a:rPr lang="en-US" sz="1600" dirty="0">
                <a:latin typeface="Consolas" panose="020B0609020204030204" pitchFamily="49" charset="0"/>
              </a:rPr>
              <a:t>&lt;h-&gt;heap[child].key)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Temp</a:t>
            </a:r>
            <a:r>
              <a:rPr lang="ko-KR" altLang="en-US" sz="1600" dirty="0">
                <a:latin typeface="Consolas" panose="020B0609020204030204" pitchFamily="49" charset="0"/>
              </a:rPr>
              <a:t>와 선택된 자식 노드를 비교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&gt;h-&gt;heap[parent]=h-&gt;heap[child];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&gt;parent = child; child *= 2;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다음 높이로 이동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19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D25DFF8-77AE-49D0-B4AC-753B4CC13884}"/>
              </a:ext>
            </a:extLst>
          </p:cNvPr>
          <p:cNvGrpSpPr/>
          <p:nvPr/>
        </p:nvGrpSpPr>
        <p:grpSpPr>
          <a:xfrm>
            <a:off x="4572000" y="1644080"/>
            <a:ext cx="4464497" cy="3986608"/>
            <a:chOff x="4571999" y="635968"/>
            <a:chExt cx="4464497" cy="398660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0" y="893440"/>
              <a:ext cx="4464496" cy="3471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make_tree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left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right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node = 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*)malloc(</a:t>
              </a:r>
              <a:r>
                <a:rPr lang="en-US" sz="11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sizeof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node-&gt;left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left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node-&gt;right =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right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node;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destroy_tree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== 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destroy_tree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-&gt;left);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destroy_tree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-&gt;right);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free(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nl-NL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nl-NL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is_leaf(</a:t>
              </a:r>
              <a:r>
                <a:rPr lang="nl-NL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nl-NL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nl-NL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nl-NL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!(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-&gt;left) &amp;&amp; !(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-&gt;right);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0" y="635968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B20F5D-A8F3-4FF8-831A-C73D92B33AD2}"/>
                </a:ext>
              </a:extLst>
            </p:cNvPr>
            <p:cNvSpPr/>
            <p:nvPr/>
          </p:nvSpPr>
          <p:spPr>
            <a:xfrm>
              <a:off x="4571999" y="4349824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>
                <a:ea typeface="문체부 돋음체" panose="020B0609000101010101" pitchFamily="49" charset="-127"/>
              </a:rPr>
              <a:t>우선순위 큐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9D459E-4D1E-425B-BFBD-4B00B37D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TreeNode</a:t>
            </a:r>
            <a:r>
              <a:rPr lang="en-US" sz="1600" dirty="0">
                <a:latin typeface="Consolas" panose="020B0609020204030204" pitchFamily="49" charset="0"/>
              </a:rPr>
              <a:t>* </a:t>
            </a:r>
            <a:r>
              <a:rPr lang="en-US" sz="1600" dirty="0" err="1">
                <a:latin typeface="Consolas" panose="020B0609020204030204" pitchFamily="49" charset="0"/>
              </a:rPr>
              <a:t>make_tree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두 노드를 왼쪽 노드와</a:t>
            </a:r>
            <a:r>
              <a:rPr lang="en-US" altLang="ko-KR" sz="1600" dirty="0"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latin typeface="Consolas" panose="020B0609020204030204" pitchFamily="49" charset="0"/>
              </a:rPr>
              <a:t>오른쪽 노드로 하는 새 노드를 만듦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destroy_tree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TreeNode</a:t>
            </a:r>
            <a:r>
              <a:rPr lang="en-US" sz="1600" dirty="0">
                <a:latin typeface="Consolas" panose="020B0609020204030204" pitchFamily="49" charset="0"/>
              </a:rPr>
              <a:t>* root) {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에러 체크 </a:t>
            </a:r>
            <a:r>
              <a:rPr lang="en-US" altLang="ko-KR" sz="1600" dirty="0">
                <a:latin typeface="Consolas" panose="020B0609020204030204" pitchFamily="49" charset="0"/>
              </a:rPr>
              <a:t>– </a:t>
            </a:r>
            <a:r>
              <a:rPr lang="ko-KR" altLang="en-US" sz="1600" dirty="0" err="1">
                <a:latin typeface="Consolas" panose="020B0609020204030204" pitchFamily="49" charset="0"/>
              </a:rPr>
              <a:t>히프가</a:t>
            </a:r>
            <a:r>
              <a:rPr lang="ko-KR" altLang="en-US" sz="1600" dirty="0">
                <a:latin typeface="Consolas" panose="020B0609020204030204" pitchFamily="49" charset="0"/>
              </a:rPr>
              <a:t> 없을 때 </a:t>
            </a:r>
            <a:r>
              <a:rPr lang="en-US" altLang="ko-KR" sz="1600" dirty="0">
                <a:latin typeface="Consolas" panose="020B0609020204030204" pitchFamily="49" charset="0"/>
              </a:rPr>
              <a:t>return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// </a:t>
            </a:r>
            <a:r>
              <a:rPr lang="en-US" sz="1600" dirty="0" err="1">
                <a:latin typeface="Consolas" panose="020B0609020204030204" pitchFamily="49" charset="0"/>
              </a:rPr>
              <a:t>destroy_tree</a:t>
            </a:r>
            <a:r>
              <a:rPr lang="en-US" sz="1600" dirty="0">
                <a:latin typeface="Consolas" panose="020B0609020204030204" pitchFamily="49" charset="0"/>
              </a:rPr>
              <a:t>(root-&gt;left);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왼쪽 노드로 순환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// </a:t>
            </a:r>
            <a:r>
              <a:rPr lang="en-US" sz="1600" dirty="0" err="1">
                <a:latin typeface="Consolas" panose="020B0609020204030204" pitchFamily="49" charset="0"/>
              </a:rPr>
              <a:t>destroy_tree</a:t>
            </a:r>
            <a:r>
              <a:rPr lang="en-US" sz="1600" dirty="0">
                <a:latin typeface="Consolas" panose="020B0609020204030204" pitchFamily="49" charset="0"/>
              </a:rPr>
              <a:t>(root-&gt;right);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오른쪽 노드로 순환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// free(root);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자기 자신 없애기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(LRM </a:t>
            </a:r>
            <a:r>
              <a:rPr lang="ko-KR" altLang="en-US" sz="1600" dirty="0">
                <a:latin typeface="Consolas" panose="020B0609020204030204" pitchFamily="49" charset="0"/>
              </a:rPr>
              <a:t>후위 순환 구조</a:t>
            </a:r>
            <a:r>
              <a:rPr lang="en-US" altLang="ko-KR" sz="1600" dirty="0">
                <a:latin typeface="Consolas" panose="020B06090202040302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is_leaf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TreeNode</a:t>
            </a:r>
            <a:r>
              <a:rPr lang="en-US" sz="1600" dirty="0">
                <a:latin typeface="Consolas" panose="020B0609020204030204" pitchFamily="49" charset="0"/>
              </a:rPr>
              <a:t>*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</a:rPr>
              <a:t>root)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root-&gt;left(</a:t>
            </a:r>
            <a:r>
              <a:rPr lang="ko-KR" altLang="en-US" sz="1600" dirty="0">
                <a:latin typeface="Consolas" panose="020B0609020204030204" pitchFamily="49" charset="0"/>
              </a:rPr>
              <a:t>왼쪽 노드</a:t>
            </a:r>
            <a:r>
              <a:rPr lang="en-US" altLang="ko-KR" sz="1600" dirty="0">
                <a:latin typeface="Consolas" panose="020B0609020204030204" pitchFamily="49" charset="0"/>
              </a:rPr>
              <a:t>)</a:t>
            </a:r>
            <a:r>
              <a:rPr lang="ko-KR" altLang="en-US" sz="1600" dirty="0">
                <a:latin typeface="Consolas" panose="020B0609020204030204" pitchFamily="49" charset="0"/>
              </a:rPr>
              <a:t>와 오른쪽 노드가 없는지를 체크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09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5C461A7-309B-444F-BB74-658FE79DE6DA}"/>
              </a:ext>
            </a:extLst>
          </p:cNvPr>
          <p:cNvGrpSpPr/>
          <p:nvPr/>
        </p:nvGrpSpPr>
        <p:grpSpPr>
          <a:xfrm>
            <a:off x="4572000" y="1312404"/>
            <a:ext cx="4464497" cy="4649960"/>
            <a:chOff x="4571999" y="635968"/>
            <a:chExt cx="4464497" cy="4649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0" y="893440"/>
              <a:ext cx="4464496" cy="4119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print_array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 = 0; i &lt; </a:t>
              </a:r>
              <a:r>
                <a:rPr lang="nn-NO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i++)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"%d"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print_codes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top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-&gt;left) {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top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 = 1;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print_codes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-&gt;left,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top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+ 1);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if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-&gt;right) {</a:t>
              </a:r>
            </a:p>
            <a:p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top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 = 0;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print_codes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-&gt;right,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top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+ 1);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is_leaf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)) {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"(%c): 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root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print_array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top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0" y="635968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B20F5D-A8F3-4FF8-831A-C73D92B33AD2}"/>
                </a:ext>
              </a:extLst>
            </p:cNvPr>
            <p:cNvSpPr/>
            <p:nvPr/>
          </p:nvSpPr>
          <p:spPr>
            <a:xfrm>
              <a:off x="4571999" y="5013176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>
                <a:ea typeface="문체부 돋음체" panose="020B0609000101010101" pitchFamily="49" charset="-127"/>
              </a:rPr>
              <a:t>우선순위 큐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1D39BD-3415-451E-84EE-2531160C7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print_array</a:t>
            </a:r>
            <a:r>
              <a:rPr lang="en-US" sz="1600" dirty="0">
                <a:latin typeface="Consolas" panose="020B0609020204030204" pitchFamily="49" charset="0"/>
              </a:rPr>
              <a:t>(int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</a:rPr>
              <a:t>codes[],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</a:rPr>
              <a:t>int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</a:rPr>
              <a:t>n)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codes[]</a:t>
            </a:r>
            <a:r>
              <a:rPr lang="ko-KR" altLang="en-US" sz="1600" dirty="0">
                <a:latin typeface="Consolas" panose="020B0609020204030204" pitchFamily="49" charset="0"/>
              </a:rPr>
              <a:t>를</a:t>
            </a:r>
            <a:r>
              <a:rPr lang="en-US" sz="1600" dirty="0">
                <a:latin typeface="Consolas" panose="020B0609020204030204" pitchFamily="49" charset="0"/>
              </a:rPr>
              <a:t> n</a:t>
            </a:r>
            <a:r>
              <a:rPr lang="ko-KR" altLang="en-US" sz="1600" dirty="0">
                <a:latin typeface="Consolas" panose="020B0609020204030204" pitchFamily="49" charset="0"/>
              </a:rPr>
              <a:t>만큼 출력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print_codes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TreeNode</a:t>
            </a:r>
            <a:r>
              <a:rPr lang="en-US" sz="1600" dirty="0">
                <a:latin typeface="Consolas" panose="020B0609020204030204" pitchFamily="49" charset="0"/>
              </a:rPr>
              <a:t>* root, int codes[], int top</a:t>
            </a:r>
            <a:r>
              <a:rPr lang="en-US" altLang="ko-KR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root </a:t>
            </a:r>
            <a:r>
              <a:rPr lang="ko-KR" altLang="en-US" sz="1600" dirty="0">
                <a:latin typeface="Consolas" panose="020B0609020204030204" pitchFamily="49" charset="0"/>
              </a:rPr>
              <a:t>트리의 </a:t>
            </a:r>
            <a:r>
              <a:rPr lang="en-US" altLang="ko-KR" sz="1600" dirty="0">
                <a:latin typeface="Consolas" panose="020B0609020204030204" pitchFamily="49" charset="0"/>
              </a:rPr>
              <a:t>codes[]</a:t>
            </a:r>
            <a:r>
              <a:rPr lang="ko-KR" altLang="en-US" sz="1600" dirty="0">
                <a:latin typeface="Consolas" panose="020B0609020204030204" pitchFamily="49" charset="0"/>
              </a:rPr>
              <a:t>의 코드를 출력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// if (root-&gt;left) {codes[top]=1;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부모 노드에서 왼쪽으로 넘어가면 </a:t>
            </a:r>
            <a:r>
              <a:rPr lang="en-US" altLang="ko-KR" sz="1600" dirty="0">
                <a:latin typeface="Consolas" panose="020B0609020204030204" pitchFamily="49" charset="0"/>
              </a:rPr>
              <a:t>1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// if (root-&gt;right){codes[top]=0;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부모 노드에서 오른쪽으로 넘어가면 </a:t>
            </a:r>
            <a:r>
              <a:rPr lang="en-US" altLang="ko-KR" sz="1600" dirty="0">
                <a:latin typeface="Consolas" panose="020B0609020204030204" pitchFamily="49" charset="0"/>
              </a:rPr>
              <a:t>0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// </a:t>
            </a:r>
            <a:r>
              <a:rPr lang="en-US" altLang="ko-KR" sz="1600" dirty="0" err="1">
                <a:latin typeface="Consolas" panose="020B0609020204030204" pitchFamily="49" charset="0"/>
              </a:rPr>
              <a:t>print_codes</a:t>
            </a:r>
            <a:r>
              <a:rPr lang="en-US" altLang="ko-KR" sz="1600" dirty="0">
                <a:latin typeface="Consolas" panose="020B0609020204030204" pitchFamily="49" charset="0"/>
              </a:rPr>
              <a:t>(…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코드에 </a:t>
            </a:r>
            <a:r>
              <a:rPr lang="en-US" altLang="ko-KR" sz="1600" dirty="0"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latin typeface="Consolas" panose="020B0609020204030204" pitchFamily="49" charset="0"/>
              </a:rPr>
              <a:t>이나 </a:t>
            </a:r>
            <a:r>
              <a:rPr lang="en-US" altLang="ko-KR" sz="1600" dirty="0">
                <a:latin typeface="Consolas" panose="020B0609020204030204" pitchFamily="49" charset="0"/>
              </a:rPr>
              <a:t>0</a:t>
            </a:r>
            <a:r>
              <a:rPr lang="ko-KR" altLang="en-US" sz="1600" dirty="0">
                <a:latin typeface="Consolas" panose="020B0609020204030204" pitchFamily="49" charset="0"/>
              </a:rPr>
              <a:t>을 출력하고 재귀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예로</a:t>
            </a:r>
            <a:r>
              <a:rPr lang="en-US" altLang="ko-KR" sz="1600" dirty="0"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latin typeface="Consolas" panose="020B0609020204030204" pitchFamily="49" charset="0"/>
              </a:rPr>
              <a:t>노드가 </a:t>
            </a:r>
            <a:r>
              <a:rPr lang="en-US" altLang="ko-KR" sz="1600" dirty="0">
                <a:latin typeface="Consolas" panose="020B0609020204030204" pitchFamily="49" charset="0"/>
              </a:rPr>
              <a:t>root</a:t>
            </a:r>
            <a:r>
              <a:rPr lang="ko-KR" altLang="en-US" sz="1600" dirty="0">
                <a:latin typeface="Consolas" panose="020B0609020204030204" pitchFamily="49" charset="0"/>
              </a:rPr>
              <a:t>에서부터</a:t>
            </a:r>
            <a:r>
              <a:rPr lang="en-US" altLang="ko-KR" sz="1600" dirty="0">
                <a:latin typeface="Consolas" panose="020B0609020204030204" pitchFamily="49" charset="0"/>
              </a:rPr>
              <a:t>, L,L,R</a:t>
            </a:r>
            <a:r>
              <a:rPr lang="ko-KR" altLang="en-US" sz="1600" dirty="0">
                <a:latin typeface="Consolas" panose="020B0609020204030204" pitchFamily="49" charset="0"/>
              </a:rPr>
              <a:t>에 있으면</a:t>
            </a:r>
            <a:r>
              <a:rPr lang="en-US" altLang="ko-KR" sz="1600" dirty="0">
                <a:latin typeface="Consolas" panose="020B0609020204030204" pitchFamily="49" charset="0"/>
              </a:rPr>
              <a:t>, 110</a:t>
            </a:r>
            <a:r>
              <a:rPr lang="ko-KR" altLang="en-US" sz="1600" dirty="0">
                <a:latin typeface="Consolas" panose="020B0609020204030204" pitchFamily="49" charset="0"/>
              </a:rPr>
              <a:t>이 출력됨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(LRM </a:t>
            </a:r>
            <a:r>
              <a:rPr lang="ko-KR" altLang="en-US" sz="1600" dirty="0">
                <a:latin typeface="Consolas" panose="020B0609020204030204" pitchFamily="49" charset="0"/>
              </a:rPr>
              <a:t>후위 순환 구조</a:t>
            </a:r>
            <a:r>
              <a:rPr lang="en-US" altLang="ko-KR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88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FB41-4523-46B6-ACE0-DF171E9C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huffman_tree</a:t>
            </a:r>
            <a:r>
              <a:rPr lang="en-US" sz="1600" dirty="0">
                <a:latin typeface="Consolas" panose="020B0609020204030204" pitchFamily="49" charset="0"/>
              </a:rPr>
              <a:t>(int </a:t>
            </a:r>
            <a:r>
              <a:rPr lang="en-US" sz="1600" dirty="0" err="1">
                <a:latin typeface="Consolas" panose="020B0609020204030204" pitchFamily="49" charset="0"/>
              </a:rPr>
              <a:t>freq</a:t>
            </a:r>
            <a:r>
              <a:rPr lang="en-US" sz="1600" dirty="0">
                <a:latin typeface="Consolas" panose="020B0609020204030204" pitchFamily="49" charset="0"/>
              </a:rPr>
              <a:t>[],char </a:t>
            </a:r>
            <a:r>
              <a:rPr lang="en-US" sz="1600" dirty="0" err="1">
                <a:latin typeface="Consolas" panose="020B0609020204030204" pitchFamily="49" charset="0"/>
              </a:rPr>
              <a:t>ch_list</a:t>
            </a:r>
            <a:r>
              <a:rPr lang="en-US" sz="1600" dirty="0">
                <a:latin typeface="Consolas" panose="020B0609020204030204" pitchFamily="49" charset="0"/>
              </a:rPr>
              <a:t>[],int n) {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latin typeface="Consolas" panose="020B0609020204030204" pitchFamily="49" charset="0"/>
              </a:rPr>
              <a:t>빈도수</a:t>
            </a:r>
            <a:r>
              <a:rPr lang="en-US" altLang="ko-KR" sz="1600" dirty="0"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latin typeface="Consolas" panose="020B0609020204030204" pitchFamily="49" charset="0"/>
              </a:rPr>
              <a:t>문자 목록</a:t>
            </a:r>
            <a:r>
              <a:rPr lang="en-US" altLang="ko-KR" sz="1600" dirty="0"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latin typeface="Consolas" panose="020B0609020204030204" pitchFamily="49" charset="0"/>
              </a:rPr>
              <a:t>문자 수</a:t>
            </a:r>
            <a:r>
              <a:rPr lang="en-US" altLang="ko-KR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&gt;heap = create();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heap</a:t>
            </a:r>
            <a:r>
              <a:rPr lang="ko-KR" altLang="en-US" sz="1600" dirty="0">
                <a:latin typeface="Consolas" panose="020B0609020204030204" pitchFamily="49" charset="0"/>
              </a:rPr>
              <a:t>구조 생성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600" dirty="0">
                <a:latin typeface="Consolas" panose="020B0609020204030204" pitchFamily="49" charset="0"/>
              </a:rPr>
              <a:t>&gt; e.ch = node-&gt;ch = ch_list[i];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e.key</a:t>
            </a:r>
            <a:r>
              <a:rPr lang="en-US" sz="1600" dirty="0">
                <a:latin typeface="Consolas" panose="020B0609020204030204" pitchFamily="49" charset="0"/>
              </a:rPr>
              <a:t> = node-&gt;weight= </a:t>
            </a:r>
            <a:r>
              <a:rPr lang="en-US" sz="1600" dirty="0" err="1">
                <a:latin typeface="Consolas" panose="020B0609020204030204" pitchFamily="49" charset="0"/>
              </a:rPr>
              <a:t>freq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e.ptree</a:t>
            </a:r>
            <a:r>
              <a:rPr lang="en-US" sz="1600" dirty="0">
                <a:latin typeface="Consolas" panose="020B0609020204030204" pitchFamily="49" charset="0"/>
              </a:rPr>
              <a:t> = node;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en-US" sz="1600" dirty="0" err="1">
                <a:latin typeface="Consolas" panose="020B0609020204030204" pitchFamily="49" charset="0"/>
              </a:rPr>
              <a:t>insert_min_heap</a:t>
            </a:r>
            <a:r>
              <a:rPr lang="en-US" sz="1600" dirty="0">
                <a:latin typeface="Consolas" panose="020B0609020204030204" pitchFamily="49" charset="0"/>
              </a:rPr>
              <a:t>(heap,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</a:rPr>
              <a:t>e);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heap</a:t>
            </a:r>
            <a:r>
              <a:rPr lang="ko-KR" altLang="en-US" sz="1600" dirty="0">
                <a:latin typeface="Consolas" panose="020B0609020204030204" pitchFamily="49" charset="0"/>
              </a:rPr>
              <a:t>에 추가</a:t>
            </a:r>
            <a:endParaRPr lang="en-US" sz="1600" dirty="0">
              <a:latin typeface="Consolas" panose="020B06090202040302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AB19310-C113-48BA-93A5-6B9D252E2CC2}"/>
              </a:ext>
            </a:extLst>
          </p:cNvPr>
          <p:cNvGrpSpPr/>
          <p:nvPr/>
        </p:nvGrpSpPr>
        <p:grpSpPr>
          <a:xfrm>
            <a:off x="4571999" y="635968"/>
            <a:ext cx="4464497" cy="6090120"/>
            <a:chOff x="4571999" y="635968"/>
            <a:chExt cx="4464497" cy="60901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0" y="893440"/>
              <a:ext cx="4464496" cy="57039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huffman_tree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*node, *x;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*heap;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e, e1, e2;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codes[100];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top = 0;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"---Huffman Tree---\n"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heap = create();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init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(heap);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(i = 0; i&lt;</a:t>
              </a:r>
              <a:r>
                <a:rPr lang="nn-NO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i++) 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node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make_tree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sv-SE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e.ch = node-&gt;ch = </a:t>
              </a:r>
              <a:r>
                <a:rPr lang="sv-SE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ch_list</a:t>
              </a:r>
              <a:r>
                <a:rPr lang="sv-SE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[i];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node-&gt;weight =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node;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insert_min_heap(heap, 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(i = 1; i&lt;</a:t>
              </a:r>
              <a:r>
                <a:rPr lang="nn-NO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i++) {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e1 = delete_min_heap(heap);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e2 = delete_min_heap(heap);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x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make_tree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(e1.ptree, e2.ptree);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x-&gt;weight = e1.key + e2.key;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x;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"(%d)+(%d)-&gt;(%d) 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e1.key, e2.key,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insert_min_heap(heap, 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e = delete_min_heap(heap);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"\n---Huffman codes---\n"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print_codes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codes, top);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destroy_tree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free(heap);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0" y="635968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B20F5D-A8F3-4FF8-831A-C73D92B33AD2}"/>
                </a:ext>
              </a:extLst>
            </p:cNvPr>
            <p:cNvSpPr/>
            <p:nvPr/>
          </p:nvSpPr>
          <p:spPr>
            <a:xfrm>
              <a:off x="4571999" y="6453336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 err="1">
                <a:ea typeface="문체부 돋음체" panose="020B0609000101010101" pitchFamily="49" charset="-127"/>
              </a:rPr>
              <a:t>허프만</a:t>
            </a:r>
            <a:r>
              <a:rPr lang="ko-KR" altLang="en-US" sz="2400" dirty="0">
                <a:ea typeface="문체부 돋음체" panose="020B0609000101010101" pitchFamily="49" charset="-127"/>
              </a:rPr>
              <a:t> 코드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940F6E-4589-478D-9313-71EB3BD0BCBE}"/>
              </a:ext>
            </a:extLst>
          </p:cNvPr>
          <p:cNvGrpSpPr/>
          <p:nvPr/>
        </p:nvGrpSpPr>
        <p:grpSpPr>
          <a:xfrm>
            <a:off x="1347612" y="4293096"/>
            <a:ext cx="1957566" cy="653311"/>
            <a:chOff x="1337740" y="3849638"/>
            <a:chExt cx="1957566" cy="65331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8FFF6BF-A412-4E12-913C-AA3042A4FB64}"/>
                </a:ext>
              </a:extLst>
            </p:cNvPr>
            <p:cNvGrpSpPr/>
            <p:nvPr/>
          </p:nvGrpSpPr>
          <p:grpSpPr>
            <a:xfrm>
              <a:off x="1337740" y="3849638"/>
              <a:ext cx="1957566" cy="288032"/>
              <a:chOff x="598210" y="1772816"/>
              <a:chExt cx="1957566" cy="288032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12826D8-A9A9-4157-A6FA-19CCD6037EB8}"/>
                  </a:ext>
                </a:extLst>
              </p:cNvPr>
              <p:cNvSpPr/>
              <p:nvPr/>
            </p:nvSpPr>
            <p:spPr>
              <a:xfrm>
                <a:off x="971600" y="1772816"/>
                <a:ext cx="576064" cy="288032"/>
              </a:xfrm>
              <a:prstGeom prst="rect">
                <a:avLst/>
              </a:prstGeom>
              <a:solidFill>
                <a:schemeClr val="l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/>
                  <a:t>freq</a:t>
                </a:r>
                <a:endParaRPr lang="en-US" sz="105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4DAE07D-66D4-4C61-A950-AB37CAF2607C}"/>
                  </a:ext>
                </a:extLst>
              </p:cNvPr>
              <p:cNvSpPr/>
              <p:nvPr/>
            </p:nvSpPr>
            <p:spPr>
              <a:xfrm>
                <a:off x="1567355" y="1772816"/>
                <a:ext cx="576064" cy="288032"/>
              </a:xfrm>
              <a:prstGeom prst="rect">
                <a:avLst/>
              </a:prstGeom>
              <a:solidFill>
                <a:schemeClr val="l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/>
                  <a:t>ch_list</a:t>
                </a:r>
                <a:endParaRPr lang="en-US" sz="1050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C6E45AE-C4D6-48E7-936C-571AE77B12D4}"/>
                  </a:ext>
                </a:extLst>
              </p:cNvPr>
              <p:cNvSpPr/>
              <p:nvPr/>
            </p:nvSpPr>
            <p:spPr>
              <a:xfrm>
                <a:off x="2163110" y="1772816"/>
                <a:ext cx="176642" cy="288032"/>
              </a:xfrm>
              <a:prstGeom prst="rect">
                <a:avLst/>
              </a:prstGeom>
              <a:solidFill>
                <a:schemeClr val="l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6FAE81F-1B75-4398-BC4D-965130376CC9}"/>
                  </a:ext>
                </a:extLst>
              </p:cNvPr>
              <p:cNvSpPr/>
              <p:nvPr/>
            </p:nvSpPr>
            <p:spPr>
              <a:xfrm>
                <a:off x="775267" y="1772816"/>
                <a:ext cx="176642" cy="288032"/>
              </a:xfrm>
              <a:prstGeom prst="rect">
                <a:avLst/>
              </a:prstGeom>
              <a:solidFill>
                <a:schemeClr val="l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888A9D2-51D5-4FEA-A058-C23ED4D77F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1431" y="1916832"/>
                <a:ext cx="304345" cy="0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767BC6D-865F-4C02-BEA4-BA6784BCC4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210" y="1916832"/>
                <a:ext cx="280228" cy="0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E30636D-0B44-4328-B121-6438E5783E5F}"/>
                </a:ext>
              </a:extLst>
            </p:cNvPr>
            <p:cNvSpPr txBox="1"/>
            <p:nvPr/>
          </p:nvSpPr>
          <p:spPr>
            <a:xfrm>
              <a:off x="2110547" y="4133617"/>
              <a:ext cx="432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[</a:t>
              </a:r>
              <a:r>
                <a:rPr lang="en-US" dirty="0" err="1"/>
                <a:t>i</a:t>
              </a:r>
              <a:r>
                <a:rPr lang="en-US" dirty="0"/>
                <a:t>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457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FB41-4523-46B6-ACE0-DF171E9C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e1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</a:rPr>
              <a:t>=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latin typeface="Consolas" panose="020B0609020204030204" pitchFamily="49" charset="0"/>
              </a:rPr>
              <a:t>delete_min_heap</a:t>
            </a:r>
            <a:r>
              <a:rPr lang="en-US" altLang="ko-KR" sz="1600" dirty="0">
                <a:latin typeface="Consolas" panose="020B0609020204030204" pitchFamily="49" charset="0"/>
              </a:rPr>
              <a:t>(heap);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e2 = </a:t>
            </a:r>
            <a:r>
              <a:rPr lang="en-US" sz="1600" dirty="0" err="1">
                <a:latin typeface="Consolas" panose="020B0609020204030204" pitchFamily="49" charset="0"/>
              </a:rPr>
              <a:t>delete_min_heap</a:t>
            </a:r>
            <a:r>
              <a:rPr lang="en-US" sz="1600" dirty="0">
                <a:latin typeface="Consolas" panose="020B0609020204030204" pitchFamily="49" charset="0"/>
              </a:rPr>
              <a:t>(heap);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최소값 두개를 빼서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400" b="1" dirty="0">
                <a:latin typeface="Consolas" panose="020B0609020204030204" pitchFamily="49" charset="0"/>
              </a:rPr>
              <a:t>x = </a:t>
            </a:r>
            <a:r>
              <a:rPr lang="en-US" sz="1400" b="1" dirty="0" err="1">
                <a:latin typeface="Consolas" panose="020B0609020204030204" pitchFamily="49" charset="0"/>
              </a:rPr>
              <a:t>make_tree</a:t>
            </a:r>
            <a:r>
              <a:rPr lang="en-US" sz="1400" b="1" dirty="0">
                <a:latin typeface="Consolas" panose="020B0609020204030204" pitchFamily="49" charset="0"/>
              </a:rPr>
              <a:t>(e1.ptree, e2.ptree);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… = e1.key + e2.key;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e.ptree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합치고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</a:t>
            </a:r>
            <a:r>
              <a:rPr lang="en-US" altLang="ko-KR" sz="1600" dirty="0" err="1">
                <a:latin typeface="Consolas" panose="020B0609020204030204" pitchFamily="49" charset="0"/>
              </a:rPr>
              <a:t>insert_min_heap</a:t>
            </a:r>
            <a:r>
              <a:rPr lang="en-US" altLang="ko-KR" sz="1600" dirty="0">
                <a:latin typeface="Consolas" panose="020B0609020204030204" pitchFamily="49" charset="0"/>
              </a:rPr>
              <a:t>(heap, e);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다시 집어넣는다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이를 노드가 하나 </a:t>
            </a:r>
            <a:r>
              <a:rPr lang="ko-KR" altLang="en-US" sz="1600" dirty="0" err="1">
                <a:latin typeface="Consolas" panose="020B0609020204030204" pitchFamily="49" charset="0"/>
              </a:rPr>
              <a:t>남을때</a:t>
            </a:r>
            <a:r>
              <a:rPr lang="ko-KR" altLang="en-US" sz="1600" dirty="0">
                <a:latin typeface="Consolas" panose="020B0609020204030204" pitchFamily="49" charset="0"/>
              </a:rPr>
              <a:t> 까지 반복</a:t>
            </a:r>
            <a:endParaRPr lang="en-US" sz="1600" dirty="0">
              <a:latin typeface="Consolas" panose="020B06090202040302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AB19310-C113-48BA-93A5-6B9D252E2CC2}"/>
              </a:ext>
            </a:extLst>
          </p:cNvPr>
          <p:cNvGrpSpPr/>
          <p:nvPr/>
        </p:nvGrpSpPr>
        <p:grpSpPr>
          <a:xfrm>
            <a:off x="4571999" y="635968"/>
            <a:ext cx="4464497" cy="6090120"/>
            <a:chOff x="4571999" y="635968"/>
            <a:chExt cx="4464497" cy="60901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0" y="893440"/>
              <a:ext cx="4464496" cy="57039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huffman_tree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*node, *x;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*heap;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e, e1, e2;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codes[100];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top = 0;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"---Huffman Tree---\n"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heap = create();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init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(heap);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(i = 0; i&lt;</a:t>
              </a:r>
              <a:r>
                <a:rPr lang="nn-NO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i++) 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node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make_tree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sv-SE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e.ch = node-&gt;ch = </a:t>
              </a:r>
              <a:r>
                <a:rPr lang="sv-SE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ch_list</a:t>
              </a:r>
              <a:r>
                <a:rPr lang="sv-SE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[i];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node-&gt;weight =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node;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insert_min_heap(heap, 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(i = 1; i&lt;</a:t>
              </a:r>
              <a:r>
                <a:rPr lang="nn-NO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i++) {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e1 = delete_min_heap(heap);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e2 = delete_min_heap(heap);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x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make_tree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(e1.ptree, e2.ptree);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x-&gt;weight = e1.key + e2.key;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x;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"(%d)+(%d)-&gt;(%d) 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e1.key, e2.key,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insert_min_heap(heap, 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e = delete_min_heap(heap);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"\n---Huffman codes---\n"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print_codes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codes, top);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destroy_tree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free(heap);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0" y="635968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B20F5D-A8F3-4FF8-831A-C73D92B33AD2}"/>
                </a:ext>
              </a:extLst>
            </p:cNvPr>
            <p:cNvSpPr/>
            <p:nvPr/>
          </p:nvSpPr>
          <p:spPr>
            <a:xfrm>
              <a:off x="4571999" y="6453336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 err="1">
                <a:ea typeface="문체부 돋음체" panose="020B0609000101010101" pitchFamily="49" charset="-127"/>
              </a:rPr>
              <a:t>허프만</a:t>
            </a:r>
            <a:r>
              <a:rPr lang="ko-KR" altLang="en-US" sz="2400" dirty="0">
                <a:ea typeface="문체부 돋음체" panose="020B0609000101010101" pitchFamily="49" charset="-127"/>
              </a:rPr>
              <a:t> 코드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401BE6C9-FF6A-40E7-B650-830673C122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2" t="6904" r="64625" b="65492"/>
          <a:stretch/>
        </p:blipFill>
        <p:spPr>
          <a:xfrm>
            <a:off x="1259625" y="4581128"/>
            <a:ext cx="2016224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42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FB41-4523-46B6-ACE0-DF171E9C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e = </a:t>
            </a:r>
            <a:r>
              <a:rPr lang="en-US" sz="1600" dirty="0" err="1">
                <a:latin typeface="Consolas" panose="020B0609020204030204" pitchFamily="49" charset="0"/>
              </a:rPr>
              <a:t>delete_min_heap</a:t>
            </a:r>
            <a:r>
              <a:rPr lang="en-US" sz="1600" dirty="0">
                <a:latin typeface="Consolas" panose="020B0609020204030204" pitchFamily="49" charset="0"/>
              </a:rPr>
              <a:t>(heap);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여기서 </a:t>
            </a:r>
            <a:r>
              <a:rPr lang="en-US" altLang="ko-KR" sz="1600" dirty="0">
                <a:latin typeface="Consolas" panose="020B0609020204030204" pitchFamily="49" charset="0"/>
              </a:rPr>
              <a:t>e</a:t>
            </a:r>
            <a:r>
              <a:rPr lang="ko-KR" altLang="en-US" sz="1600" dirty="0">
                <a:latin typeface="Consolas" panose="020B0609020204030204" pitchFamily="49" charset="0"/>
              </a:rPr>
              <a:t>는 모든 요소가 합쳐진 트리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en-US" sz="1600" dirty="0" err="1">
                <a:latin typeface="Consolas" panose="020B0609020204030204" pitchFamily="49" charset="0"/>
              </a:rPr>
              <a:t>print_codes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e.ptree,codes.top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en-US" sz="1600" dirty="0" err="1">
                <a:latin typeface="Consolas" panose="020B0609020204030204" pitchFamily="49" charset="0"/>
              </a:rPr>
              <a:t>destroy_tree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e.ptree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&gt;free(heap);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print</a:t>
            </a:r>
            <a:r>
              <a:rPr lang="ko-KR" altLang="en-US" sz="1600" dirty="0">
                <a:latin typeface="Consolas" panose="020B0609020204030204" pitchFamily="49" charset="0"/>
              </a:rPr>
              <a:t>하고 종료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  <a:endParaRPr lang="en-US" sz="1600" dirty="0">
              <a:latin typeface="Consolas" panose="020B06090202040302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AB19310-C113-48BA-93A5-6B9D252E2CC2}"/>
              </a:ext>
            </a:extLst>
          </p:cNvPr>
          <p:cNvGrpSpPr/>
          <p:nvPr/>
        </p:nvGrpSpPr>
        <p:grpSpPr>
          <a:xfrm>
            <a:off x="4571999" y="635968"/>
            <a:ext cx="4464497" cy="6090120"/>
            <a:chOff x="4571999" y="635968"/>
            <a:chExt cx="4464497" cy="60901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0" y="893440"/>
              <a:ext cx="4464496" cy="57039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huffman_tree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TreeNode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*node, *x;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HeapType</a:t>
              </a:r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*heap;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element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e, e1, e2;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codes[100];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top = 0;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"---Huffman Tree---\n"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heap = create();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init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(heap);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</a:t>
              </a:r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(i = 0; i&lt;</a:t>
              </a:r>
              <a:r>
                <a:rPr lang="nn-NO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i++) 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node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make_tree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sv-SE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e.ch = node-&gt;ch = </a:t>
              </a:r>
              <a:r>
                <a:rPr lang="sv-SE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ch_list</a:t>
              </a:r>
              <a:r>
                <a:rPr lang="sv-SE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[i];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node-&gt;weight = </a:t>
              </a:r>
              <a:r>
                <a:rPr lang="en-US" sz="11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node;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  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insert_min_heap(heap, 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(i = 1; i&lt;</a:t>
              </a:r>
              <a:r>
                <a:rPr lang="nn-NO" sz="11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i++) {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e1 = delete_min_heap(heap);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e2 = delete_min_heap(heap);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x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make_tree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(e1.ptree, e2.ptree);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x-&gt;weight = e1.key + e2.key;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x;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"(%d)+(%d)-&gt;(%d) 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e1.key, e2.key,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e.key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insert_min_heap(heap, e);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}</a:t>
              </a:r>
            </a:p>
            <a:p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e = delete_min_heap(heap);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"\n---Huffman codes---\n"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print_codes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codes, top);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destroy_tree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e.ptree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free(heap);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0" y="635968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B20F5D-A8F3-4FF8-831A-C73D92B33AD2}"/>
                </a:ext>
              </a:extLst>
            </p:cNvPr>
            <p:cNvSpPr/>
            <p:nvPr/>
          </p:nvSpPr>
          <p:spPr>
            <a:xfrm>
              <a:off x="4571999" y="6453336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 err="1">
                <a:ea typeface="문체부 돋음체" panose="020B0609000101010101" pitchFamily="49" charset="-127"/>
              </a:rPr>
              <a:t>허프만</a:t>
            </a:r>
            <a:r>
              <a:rPr lang="ko-KR" altLang="en-US" sz="2400" dirty="0">
                <a:ea typeface="문체부 돋음체" panose="020B0609000101010101" pitchFamily="49" charset="-127"/>
              </a:rPr>
              <a:t> 코드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755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FB41-4523-46B6-ACE0-DF171E9C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fopen</a:t>
            </a:r>
            <a:r>
              <a:rPr lang="en-US" sz="1600" dirty="0">
                <a:latin typeface="Consolas" panose="020B0609020204030204" pitchFamily="49" charset="0"/>
              </a:rPr>
              <a:t>(“file.txt”, “r”);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파일 입력</a:t>
            </a:r>
            <a:r>
              <a:rPr lang="en-US" altLang="ko-KR" sz="1600" dirty="0"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latin typeface="Consolas" panose="020B0609020204030204" pitchFamily="49" charset="0"/>
              </a:rPr>
              <a:t>읽기 전용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fopen_s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file,“file.txt”,“r</a:t>
            </a:r>
            <a:r>
              <a:rPr lang="en-US" sz="1600" dirty="0"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Microsoft </a:t>
            </a:r>
            <a:r>
              <a:rPr lang="ko-KR" altLang="en-US" sz="1600" dirty="0">
                <a:latin typeface="Consolas" panose="020B0609020204030204" pitchFamily="49" charset="0"/>
              </a:rPr>
              <a:t>보안문제 때문에 </a:t>
            </a:r>
            <a:r>
              <a:rPr lang="en-US" altLang="ko-KR" sz="1600" dirty="0" err="1">
                <a:latin typeface="Consolas" panose="020B0609020204030204" pitchFamily="49" charset="0"/>
              </a:rPr>
              <a:t>fopen_s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ko-KR" altLang="en-US" sz="1600" dirty="0">
                <a:latin typeface="Consolas" panose="020B0609020204030204" pitchFamily="49" charset="0"/>
              </a:rPr>
              <a:t>사용</a:t>
            </a:r>
            <a:r>
              <a:rPr lang="en-US" altLang="ko-KR" sz="1600" dirty="0">
                <a:latin typeface="Consolas" panose="020B0609020204030204" pitchFamily="49" charset="0"/>
              </a:rPr>
              <a:t>. </a:t>
            </a:r>
            <a:r>
              <a:rPr lang="ko-KR" altLang="en-US" sz="1600" dirty="0">
                <a:latin typeface="Consolas" panose="020B0609020204030204" pitchFamily="49" charset="0"/>
              </a:rPr>
              <a:t>인수 하나가 추가된다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ch_list</a:t>
            </a:r>
            <a:r>
              <a:rPr lang="en-US" sz="1600" dirty="0">
                <a:latin typeface="Consolas" panose="020B0609020204030204" pitchFamily="49" charset="0"/>
              </a:rPr>
              <a:t>[]: </a:t>
            </a:r>
            <a:r>
              <a:rPr lang="ko-KR" altLang="en-US" sz="1600" dirty="0">
                <a:latin typeface="Consolas" panose="020B0609020204030204" pitchFamily="49" charset="0"/>
              </a:rPr>
              <a:t>문자 리스트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freq</a:t>
            </a:r>
            <a:r>
              <a:rPr lang="en-US" sz="1600" dirty="0">
                <a:latin typeface="Consolas" panose="020B0609020204030204" pitchFamily="49" charset="0"/>
              </a:rPr>
              <a:t>[]: </a:t>
            </a:r>
            <a:r>
              <a:rPr lang="ko-KR" altLang="en-US" sz="1600" dirty="0">
                <a:latin typeface="Consolas" panose="020B0609020204030204" pitchFamily="49" charset="0"/>
              </a:rPr>
              <a:t>빈도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fgetc</a:t>
            </a:r>
            <a:r>
              <a:rPr lang="en-US" sz="1600" dirty="0">
                <a:latin typeface="Consolas" panose="020B0609020204030204" pitchFamily="49" charset="0"/>
              </a:rPr>
              <a:t>(file* stream):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파일로 부터 </a:t>
            </a:r>
            <a:r>
              <a:rPr lang="en-US" altLang="ko-KR" sz="1600" dirty="0">
                <a:latin typeface="Consolas" panose="020B0609020204030204" pitchFamily="49" charset="0"/>
              </a:rPr>
              <a:t>%c </a:t>
            </a:r>
            <a:r>
              <a:rPr lang="ko-KR" altLang="en-US" sz="1600" dirty="0">
                <a:latin typeface="Consolas" panose="020B0609020204030204" pitchFamily="49" charset="0"/>
              </a:rPr>
              <a:t>받기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// EOF: End of File – </a:t>
            </a:r>
            <a:r>
              <a:rPr lang="ko-KR" altLang="en-US" sz="1600" dirty="0">
                <a:latin typeface="Consolas" panose="020B0609020204030204" pitchFamily="49" charset="0"/>
              </a:rPr>
              <a:t>파일 끝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while((</a:t>
            </a:r>
            <a:r>
              <a:rPr lang="en-US" sz="1600" dirty="0" err="1">
                <a:latin typeface="Consolas" panose="020B0609020204030204" pitchFamily="49" charset="0"/>
              </a:rPr>
              <a:t>ch</a:t>
            </a:r>
            <a:r>
              <a:rPr lang="en-US" sz="1600" dirty="0">
                <a:latin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</a:rPr>
              <a:t>fgetc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InputFile</a:t>
            </a:r>
            <a:r>
              <a:rPr lang="en-US" sz="1600" dirty="0">
                <a:latin typeface="Consolas" panose="020B0609020204030204" pitchFamily="49" charset="0"/>
              </a:rPr>
              <a:t>))!=EOF);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// </a:t>
            </a:r>
            <a:r>
              <a:rPr lang="en-US" sz="1600" dirty="0" err="1">
                <a:latin typeface="Consolas" panose="020B0609020204030204" pitchFamily="49" charset="0"/>
              </a:rPr>
              <a:t>ch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ko-KR" altLang="en-US" sz="1600" dirty="0">
                <a:latin typeface="Consolas" panose="020B0609020204030204" pitchFamily="49" charset="0"/>
              </a:rPr>
              <a:t>파일의 각 문자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latin typeface="Consolas" panose="020B0609020204030204" pitchFamily="49" charset="0"/>
              </a:rPr>
              <a:t>파일 끝까지</a:t>
            </a:r>
            <a:endParaRPr lang="en-US" altLang="ko-KR" sz="1600" dirty="0">
              <a:latin typeface="Consolas" panose="020B06090202040302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66B8BF4-3C38-4F28-83AF-308D263792CF}"/>
              </a:ext>
            </a:extLst>
          </p:cNvPr>
          <p:cNvGrpSpPr/>
          <p:nvPr/>
        </p:nvGrpSpPr>
        <p:grpSpPr>
          <a:xfrm>
            <a:off x="4572001" y="1312404"/>
            <a:ext cx="4464496" cy="4377208"/>
            <a:chOff x="4572001" y="1312404"/>
            <a:chExt cx="4464496" cy="437720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1" y="1569876"/>
              <a:ext cx="4464496" cy="4119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fopen_s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"input.txt"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"r"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[26] = {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a'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'b'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'c'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'd'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'e'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'f'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'g'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'h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’ i'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'j'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'k'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'l'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'm'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'n'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'o'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'p'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'q'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'r'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's'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't'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'u'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'v'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'w'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'x'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'y'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'z’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[26] = { 0 };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while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fgetc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)) != 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EOF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unsigned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)ch-97]++;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fclose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huffman_tree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26);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"\n---Frequencies---\n"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 = 0; i &lt; 26; i++)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"(%c): %d 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0;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1" y="1312404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>
                <a:ea typeface="문체부 돋음체" panose="020B0609000101010101" pitchFamily="49" charset="-127"/>
              </a:rPr>
              <a:t>외부 파일 입력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3818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40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FB41-4523-46B6-ACE0-DF171E9C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</a:t>
            </a:r>
            <a:r>
              <a:rPr lang="en-US" altLang="ko-KR" sz="1600" dirty="0" err="1">
                <a:latin typeface="Consolas" panose="020B0609020204030204" pitchFamily="49" charset="0"/>
              </a:rPr>
              <a:t>freq</a:t>
            </a:r>
            <a:r>
              <a:rPr lang="en-US" altLang="ko-KR" sz="1600" dirty="0">
                <a:latin typeface="Consolas" panose="020B0609020204030204" pitchFamily="49" charset="0"/>
              </a:rPr>
              <a:t>[(unsigned int)ch-97]++;</a:t>
            </a: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// (unsigned int)</a:t>
            </a:r>
            <a:r>
              <a:rPr lang="en-US" altLang="ko-KR" sz="1600" dirty="0" err="1">
                <a:latin typeface="Consolas" panose="020B0609020204030204" pitchFamily="49" charset="0"/>
              </a:rPr>
              <a:t>ch</a:t>
            </a:r>
            <a:r>
              <a:rPr lang="en-US" altLang="ko-KR" sz="1600" dirty="0">
                <a:latin typeface="Consolas" panose="020B0609020204030204" pitchFamily="49" charset="0"/>
              </a:rPr>
              <a:t> :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모든 </a:t>
            </a:r>
            <a:r>
              <a:rPr lang="en-US" altLang="ko-KR" sz="1600" dirty="0">
                <a:latin typeface="Consolas" panose="020B0609020204030204" pitchFamily="49" charset="0"/>
              </a:rPr>
              <a:t>26 </a:t>
            </a:r>
            <a:r>
              <a:rPr lang="ko-KR" altLang="en-US" sz="1600" dirty="0">
                <a:latin typeface="Consolas" panose="020B0609020204030204" pitchFamily="49" charset="0"/>
              </a:rPr>
              <a:t>알파벳을 각각 받으려면 </a:t>
            </a:r>
            <a:r>
              <a:rPr lang="en-US" altLang="ko-KR" sz="1600" dirty="0">
                <a:latin typeface="Consolas" panose="020B0609020204030204" pitchFamily="49" charset="0"/>
              </a:rPr>
              <a:t>if</a:t>
            </a:r>
            <a:r>
              <a:rPr lang="ko-KR" altLang="en-US" sz="1600" dirty="0">
                <a:latin typeface="Consolas" panose="020B0609020204030204" pitchFamily="49" charset="0"/>
              </a:rPr>
              <a:t>문을 사용하여 하나하나 빈도를 지정하는 변수를 사용해야 한다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하지만 모든 알파벳의 </a:t>
            </a:r>
            <a:r>
              <a:rPr lang="en-US" altLang="ko-KR" sz="1600" dirty="0">
                <a:latin typeface="Consolas" panose="020B0609020204030204" pitchFamily="49" charset="0"/>
              </a:rPr>
              <a:t>ASCII</a:t>
            </a:r>
            <a:r>
              <a:rPr lang="ko-KR" altLang="en-US" sz="1600" dirty="0">
                <a:latin typeface="Consolas" panose="020B0609020204030204" pitchFamily="49" charset="0"/>
              </a:rPr>
              <a:t>값이 연속적이라는 점을 이용하면</a:t>
            </a:r>
            <a:r>
              <a:rPr lang="en-US" altLang="ko-KR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altLang="ko-KR" sz="1600" dirty="0" err="1">
                <a:latin typeface="Consolas" panose="020B0609020204030204" pitchFamily="49" charset="0"/>
              </a:rPr>
              <a:t>ch</a:t>
            </a:r>
            <a:r>
              <a:rPr lang="ko-KR" altLang="en-US" sz="1600" dirty="0">
                <a:latin typeface="Consolas" panose="020B0609020204030204" pitchFamily="49" charset="0"/>
              </a:rPr>
              <a:t>을 </a:t>
            </a:r>
            <a:r>
              <a:rPr lang="en-US" altLang="ko-KR" sz="1600" dirty="0">
                <a:latin typeface="Consolas" panose="020B0609020204030204" pitchFamily="49" charset="0"/>
              </a:rPr>
              <a:t>int</a:t>
            </a:r>
            <a:r>
              <a:rPr lang="ko-KR" altLang="en-US" sz="1600" dirty="0">
                <a:latin typeface="Consolas" panose="020B0609020204030204" pitchFamily="49" charset="0"/>
              </a:rPr>
              <a:t>형으로 강제 </a:t>
            </a:r>
            <a:r>
              <a:rPr lang="ko-KR" altLang="en-US" sz="1600" dirty="0" err="1">
                <a:latin typeface="Consolas" panose="020B0609020204030204" pitchFamily="49" charset="0"/>
              </a:rPr>
              <a:t>형변환하고</a:t>
            </a:r>
            <a:r>
              <a:rPr lang="en-US" altLang="ko-KR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(ASCII</a:t>
            </a:r>
            <a:r>
              <a:rPr lang="ko-KR" altLang="en-US" sz="1600" dirty="0">
                <a:latin typeface="Consolas" panose="020B0609020204030204" pitchFamily="49" charset="0"/>
              </a:rPr>
              <a:t>는 </a:t>
            </a:r>
            <a:r>
              <a:rPr lang="en-US" altLang="ko-KR" sz="1600" dirty="0">
                <a:latin typeface="Consolas" panose="020B0609020204030204" pitchFamily="49" charset="0"/>
              </a:rPr>
              <a:t>0~256</a:t>
            </a:r>
            <a:r>
              <a:rPr lang="ko-KR" altLang="en-US" sz="1600" dirty="0">
                <a:latin typeface="Consolas" panose="020B0609020204030204" pitchFamily="49" charset="0"/>
              </a:rPr>
              <a:t>이므로 </a:t>
            </a:r>
            <a:r>
              <a:rPr lang="en-US" altLang="ko-KR" sz="1600" dirty="0">
                <a:latin typeface="Consolas" panose="020B0609020204030204" pitchFamily="49" charset="0"/>
              </a:rPr>
              <a:t>unsigned int)</a:t>
            </a: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// </a:t>
            </a:r>
            <a:r>
              <a:rPr lang="en-US" altLang="ko-KR" sz="1600" dirty="0" err="1">
                <a:latin typeface="Consolas" panose="020B0609020204030204" pitchFamily="49" charset="0"/>
              </a:rPr>
              <a:t>freq</a:t>
            </a:r>
            <a:r>
              <a:rPr lang="en-US" altLang="ko-KR" sz="1600" dirty="0">
                <a:latin typeface="Consolas" panose="020B0609020204030204" pitchFamily="49" charset="0"/>
              </a:rPr>
              <a:t>[ch-97]++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97</a:t>
            </a:r>
            <a:r>
              <a:rPr lang="ko-KR" altLang="en-US" sz="1600" dirty="0">
                <a:latin typeface="Consolas" panose="020B0609020204030204" pitchFamily="49" charset="0"/>
              </a:rPr>
              <a:t>를 빼 </a:t>
            </a:r>
            <a:r>
              <a:rPr lang="en-US" altLang="ko-KR" sz="1600" dirty="0">
                <a:latin typeface="Consolas" panose="020B0609020204030204" pitchFamily="49" charset="0"/>
              </a:rPr>
              <a:t>‘a’</a:t>
            </a:r>
            <a:r>
              <a:rPr lang="ko-KR" altLang="en-US" sz="1600" dirty="0">
                <a:latin typeface="Consolas" panose="020B0609020204030204" pitchFamily="49" charset="0"/>
              </a:rPr>
              <a:t>를 </a:t>
            </a:r>
            <a:r>
              <a:rPr lang="en-US" altLang="ko-KR" sz="1600" dirty="0">
                <a:latin typeface="Consolas" panose="020B0609020204030204" pitchFamily="49" charset="0"/>
              </a:rPr>
              <a:t>[0]</a:t>
            </a:r>
            <a:r>
              <a:rPr lang="ko-KR" altLang="en-US" sz="1600" dirty="0">
                <a:latin typeface="Consolas" panose="020B0609020204030204" pitchFamily="49" charset="0"/>
              </a:rPr>
              <a:t>에 지정한다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그러면 </a:t>
            </a:r>
            <a:r>
              <a:rPr lang="en-US" altLang="ko-KR" sz="1600" dirty="0">
                <a:latin typeface="Consolas" panose="020B0609020204030204" pitchFamily="49" charset="0"/>
              </a:rPr>
              <a:t>‘a’</a:t>
            </a:r>
            <a:r>
              <a:rPr lang="ko-KR" altLang="en-US" sz="1600" dirty="0">
                <a:latin typeface="Consolas" panose="020B0609020204030204" pitchFamily="49" charset="0"/>
              </a:rPr>
              <a:t>가 </a:t>
            </a:r>
            <a:r>
              <a:rPr lang="en-US" altLang="ko-KR" sz="1600" dirty="0" err="1">
                <a:latin typeface="Consolas" panose="020B0609020204030204" pitchFamily="49" charset="0"/>
              </a:rPr>
              <a:t>ch</a:t>
            </a:r>
            <a:r>
              <a:rPr lang="ko-KR" altLang="en-US" sz="1600" dirty="0">
                <a:latin typeface="Consolas" panose="020B0609020204030204" pitchFamily="49" charset="0"/>
              </a:rPr>
              <a:t>에 </a:t>
            </a:r>
            <a:r>
              <a:rPr lang="ko-KR" altLang="en-US" sz="1600" dirty="0" err="1">
                <a:latin typeface="Consolas" panose="020B0609020204030204" pitchFamily="49" charset="0"/>
              </a:rPr>
              <a:t>입력될때</a:t>
            </a:r>
            <a:r>
              <a:rPr lang="ko-KR" altLang="en-US" sz="1600" dirty="0">
                <a:latin typeface="Consolas" panose="020B0609020204030204" pitchFamily="49" charset="0"/>
              </a:rPr>
              <a:t> 마다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 err="1">
                <a:latin typeface="Consolas" panose="020B0609020204030204" pitchFamily="49" charset="0"/>
              </a:rPr>
              <a:t>freq</a:t>
            </a:r>
            <a:r>
              <a:rPr lang="en-US" altLang="ko-KR" sz="1600" dirty="0">
                <a:latin typeface="Consolas" panose="020B0609020204030204" pitchFamily="49" charset="0"/>
              </a:rPr>
              <a:t>[0]++;</a:t>
            </a:r>
            <a:r>
              <a:rPr lang="ko-KR" altLang="en-US" sz="1600" dirty="0">
                <a:latin typeface="Consolas" panose="020B0609020204030204" pitchFamily="49" charset="0"/>
              </a:rPr>
              <a:t>으로 </a:t>
            </a:r>
            <a:r>
              <a:rPr lang="en-US" altLang="ko-KR" sz="1600" dirty="0">
                <a:latin typeface="Consolas" panose="020B0609020204030204" pitchFamily="49" charset="0"/>
              </a:rPr>
              <a:t>[0]</a:t>
            </a:r>
            <a:r>
              <a:rPr lang="ko-KR" altLang="en-US" sz="1600" dirty="0">
                <a:latin typeface="Consolas" panose="020B0609020204030204" pitchFamily="49" charset="0"/>
              </a:rPr>
              <a:t>의 값이 증가되고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‘b’</a:t>
            </a:r>
            <a:r>
              <a:rPr lang="ko-KR" altLang="en-US" sz="1600" dirty="0">
                <a:latin typeface="Consolas" panose="020B0609020204030204" pitchFamily="49" charset="0"/>
              </a:rPr>
              <a:t>가 입력되면</a:t>
            </a:r>
            <a:r>
              <a:rPr lang="en-US" altLang="ko-KR" sz="1600" dirty="0">
                <a:latin typeface="Consolas" panose="020B0609020204030204" pitchFamily="49" charset="0"/>
              </a:rPr>
              <a:t>, </a:t>
            </a:r>
            <a:r>
              <a:rPr lang="en-US" altLang="ko-KR" sz="1600" dirty="0" err="1">
                <a:latin typeface="Consolas" panose="020B0609020204030204" pitchFamily="49" charset="0"/>
              </a:rPr>
              <a:t>freq</a:t>
            </a:r>
            <a:r>
              <a:rPr lang="en-US" altLang="ko-KR" sz="1600" dirty="0">
                <a:latin typeface="Consolas" panose="020B0609020204030204" pitchFamily="49" charset="0"/>
              </a:rPr>
              <a:t>[1]</a:t>
            </a:r>
            <a:r>
              <a:rPr lang="ko-KR" altLang="en-US" sz="1600" dirty="0">
                <a:latin typeface="Consolas" panose="020B0609020204030204" pitchFamily="49" charset="0"/>
              </a:rPr>
              <a:t>이 증가된다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66B8BF4-3C38-4F28-83AF-308D263792CF}"/>
              </a:ext>
            </a:extLst>
          </p:cNvPr>
          <p:cNvGrpSpPr/>
          <p:nvPr/>
        </p:nvGrpSpPr>
        <p:grpSpPr>
          <a:xfrm>
            <a:off x="4572001" y="1312404"/>
            <a:ext cx="4464496" cy="4377208"/>
            <a:chOff x="4572001" y="1312404"/>
            <a:chExt cx="4464496" cy="437720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1" y="1569876"/>
              <a:ext cx="4464496" cy="4119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fopen_s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"input.txt"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"r"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[26] = {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a'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'b'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'c'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'd'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'e'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'f'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'g'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'h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’ i'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'j'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'k'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'l'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'm'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'n'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'o'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'p'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'q'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'r'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's'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't'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'u'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'v'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'w'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'x'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'y'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'z’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[26] = { 0 };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while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fgetc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)) != 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EOF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unsigned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)ch-97]++;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fclose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huffman_tree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26);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"\n---Frequencies---\n"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 = 0; i &lt; 26; i++)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"(%c): %d 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0;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1" y="1312404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>
                <a:ea typeface="문체부 돋음체" panose="020B0609000101010101" pitchFamily="49" charset="-127"/>
              </a:rPr>
              <a:t>외부 파일 입력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2436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5000"/>
                <a:satMod val="180000"/>
              </a:schemeClr>
            </a:gs>
            <a:gs pos="79000">
              <a:schemeClr val="bg2">
                <a:tint val="95000"/>
                <a:shade val="85000"/>
                <a:satMod val="150000"/>
              </a:schemeClr>
            </a:gs>
            <a:gs pos="100000">
              <a:schemeClr val="bg2">
                <a:shade val="45000"/>
                <a:satMod val="2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FB41-4523-46B6-ACE0-DF171E9C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3826755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</a:t>
            </a:r>
            <a:r>
              <a:rPr lang="en-US" altLang="ko-KR" sz="1600" dirty="0" err="1">
                <a:latin typeface="Consolas" panose="020B0609020204030204" pitchFamily="49" charset="0"/>
              </a:rPr>
              <a:t>fclose</a:t>
            </a:r>
            <a:r>
              <a:rPr lang="en-US" altLang="ko-KR" sz="1600" dirty="0">
                <a:latin typeface="Consolas" panose="020B0609020204030204" pitchFamily="49" charset="0"/>
              </a:rPr>
              <a:t>(</a:t>
            </a:r>
            <a:r>
              <a:rPr lang="en-US" altLang="ko-KR" sz="1600" dirty="0" err="1">
                <a:latin typeface="Consolas" panose="020B0609020204030204" pitchFamily="49" charset="0"/>
              </a:rPr>
              <a:t>InputFile</a:t>
            </a:r>
            <a:r>
              <a:rPr lang="en-US" altLang="ko-KR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파일을 그만 불러온다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</a:t>
            </a:r>
            <a:r>
              <a:rPr lang="en-US" altLang="ko-KR" sz="1600" dirty="0" err="1">
                <a:latin typeface="Consolas" panose="020B0609020204030204" pitchFamily="49" charset="0"/>
              </a:rPr>
              <a:t>huffman_tree</a:t>
            </a:r>
            <a:r>
              <a:rPr lang="en-US" altLang="ko-KR" sz="1600" dirty="0">
                <a:latin typeface="Consolas" panose="020B0609020204030204" pitchFamily="49" charset="0"/>
              </a:rPr>
              <a:t>(freq,ch_list,26);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사용자 정의한 </a:t>
            </a:r>
            <a:r>
              <a:rPr lang="ko-KR" altLang="en-US" sz="1600" dirty="0" err="1">
                <a:latin typeface="Consolas" panose="020B0609020204030204" pitchFamily="49" charset="0"/>
              </a:rPr>
              <a:t>허프만</a:t>
            </a:r>
            <a:r>
              <a:rPr lang="ko-KR" altLang="en-US" sz="1600" dirty="0">
                <a:latin typeface="Consolas" panose="020B0609020204030204" pitchFamily="49" charset="0"/>
              </a:rPr>
              <a:t> 함수 호출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&gt; </a:t>
            </a:r>
            <a:r>
              <a:rPr lang="en-US" altLang="ko-KR" sz="1600" dirty="0" err="1">
                <a:latin typeface="Consolas" panose="020B0609020204030204" pitchFamily="49" charset="0"/>
              </a:rPr>
              <a:t>printf</a:t>
            </a:r>
            <a:r>
              <a:rPr lang="en-US" altLang="ko-KR" sz="1600" dirty="0">
                <a:latin typeface="Consolas" panose="020B0609020204030204" pitchFamily="49" charset="0"/>
              </a:rPr>
              <a:t>(“”,</a:t>
            </a:r>
            <a:r>
              <a:rPr lang="en-US" altLang="ko-KR" sz="1600" dirty="0" err="1">
                <a:latin typeface="Consolas" panose="020B0609020204030204" pitchFamily="49" charset="0"/>
              </a:rPr>
              <a:t>ch_list</a:t>
            </a:r>
            <a:r>
              <a:rPr lang="en-US" altLang="ko-KR" sz="1600" dirty="0">
                <a:latin typeface="Consolas" panose="020B0609020204030204" pitchFamily="49" charset="0"/>
              </a:rPr>
              <a:t>[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],</a:t>
            </a:r>
            <a:r>
              <a:rPr lang="en-US" altLang="ko-KR" sz="1600" dirty="0" err="1">
                <a:latin typeface="Consolas" panose="020B0609020204030204" pitchFamily="49" charset="0"/>
              </a:rPr>
              <a:t>freq</a:t>
            </a:r>
            <a:r>
              <a:rPr lang="en-US" altLang="ko-KR" sz="1600" dirty="0">
                <a:latin typeface="Consolas" panose="020B0609020204030204" pitchFamily="49" charset="0"/>
              </a:rPr>
              <a:t>[</a:t>
            </a:r>
            <a:r>
              <a:rPr lang="en-US" altLang="ko-KR" sz="1600" dirty="0" err="1"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ko-KR" altLang="en-US" sz="1600" dirty="0">
                <a:latin typeface="Consolas" panose="020B0609020204030204" pitchFamily="49" charset="0"/>
              </a:rPr>
              <a:t>빈도수 목록을 출력한다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B04CD-76A9-4696-A268-6F9D3FCB2A83}"/>
              </a:ext>
            </a:extLst>
          </p:cNvPr>
          <p:cNvCxnSpPr>
            <a:cxnSpLocks/>
          </p:cNvCxnSpPr>
          <p:nvPr/>
        </p:nvCxnSpPr>
        <p:spPr>
          <a:xfrm>
            <a:off x="4427984" y="893440"/>
            <a:ext cx="0" cy="548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66B8BF4-3C38-4F28-83AF-308D263792CF}"/>
              </a:ext>
            </a:extLst>
          </p:cNvPr>
          <p:cNvGrpSpPr/>
          <p:nvPr/>
        </p:nvGrpSpPr>
        <p:grpSpPr>
          <a:xfrm>
            <a:off x="4572001" y="1312404"/>
            <a:ext cx="4464496" cy="4377208"/>
            <a:chOff x="4572001" y="1312404"/>
            <a:chExt cx="4464496" cy="437720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B5E65A-20B5-41AD-8BAB-30C1B6839424}"/>
                </a:ext>
              </a:extLst>
            </p:cNvPr>
            <p:cNvSpPr txBox="1"/>
            <p:nvPr/>
          </p:nvSpPr>
          <p:spPr>
            <a:xfrm>
              <a:off x="4572001" y="1569876"/>
              <a:ext cx="4464496" cy="4119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  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fopen_s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(&amp;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"input.txt"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"r"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[26] = { 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a'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'b'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'c'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'd'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'e'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'f'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'g'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'h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’ i'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'j'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'k'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'l'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'm'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'n'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'o'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'p'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'q'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'r'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's'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't'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'u'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'v'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'w'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'x'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'y'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'z’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[26] = { 0 };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char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while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fgetc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)) != </a:t>
              </a:r>
              <a:r>
                <a:rPr lang="en-US" sz="1100" dirty="0">
                  <a:solidFill>
                    <a:srgbClr val="6F008A"/>
                  </a:solidFill>
                  <a:latin typeface="Consolas" panose="020B0609020204030204" pitchFamily="49" charset="0"/>
                </a:rPr>
                <a:t>EOF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[(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unsigned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)ch-97]++;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fclose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InputFile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huffman_tree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26);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"\n---Frequencies---\n"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for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nn-NO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nn-NO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 = 0; i &lt; 26; i++)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"(%c): %d \n"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ch_list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], 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freq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]);</a:t>
              </a:r>
            </a:p>
            <a:p>
              <a:endParaRPr lang="en-US" sz="11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return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0;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1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24D291-A187-4EBF-9932-43B2E9D53F4D}"/>
                </a:ext>
              </a:extLst>
            </p:cNvPr>
            <p:cNvSpPr/>
            <p:nvPr/>
          </p:nvSpPr>
          <p:spPr>
            <a:xfrm>
              <a:off x="4572001" y="1312404"/>
              <a:ext cx="4464493" cy="27275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1DA3C86-B31B-4247-A005-B2F68823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826726" cy="5193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400" dirty="0">
                <a:ea typeface="문체부 돋음체" panose="020B0609000101010101" pitchFamily="49" charset="-127"/>
              </a:rPr>
              <a:t>외부 파일 입력</a:t>
            </a:r>
            <a:endParaRPr lang="en-US" sz="2400" dirty="0">
              <a:ea typeface="문체부 돋음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896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02FFADF-3FD0-4554-9F26-C5DDCD912895}"/>
              </a:ext>
            </a:extLst>
          </p:cNvPr>
          <p:cNvSpPr txBox="1"/>
          <p:nvPr/>
        </p:nvSpPr>
        <p:spPr>
          <a:xfrm>
            <a:off x="251520" y="1189761"/>
            <a:ext cx="8784976" cy="752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C93A96-0F26-4FEB-B599-7153262BB0AD}"/>
              </a:ext>
            </a:extLst>
          </p:cNvPr>
          <p:cNvSpPr/>
          <p:nvPr/>
        </p:nvSpPr>
        <p:spPr>
          <a:xfrm>
            <a:off x="298638" y="1980532"/>
            <a:ext cx="8737858" cy="48320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A940E-071B-44F4-BB91-5B44E15F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0385"/>
            <a:ext cx="8229600" cy="990600"/>
          </a:xfrm>
        </p:spPr>
        <p:txBody>
          <a:bodyPr/>
          <a:lstStyle/>
          <a:p>
            <a:r>
              <a:rPr lang="ko-KR" altLang="en-US" dirty="0"/>
              <a:t>프로그램 구현 결과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3E5C0-9305-41AC-BDD7-757012203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8313" y="5514433"/>
            <a:ext cx="8207375" cy="99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ED043-68C7-47EC-A859-AD2E9A14255F}"/>
              </a:ext>
            </a:extLst>
          </p:cNvPr>
          <p:cNvSpPr txBox="1"/>
          <p:nvPr/>
        </p:nvSpPr>
        <p:spPr>
          <a:xfrm>
            <a:off x="251520" y="1189761"/>
            <a:ext cx="8784976" cy="752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lorem ipsum dolor sit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amet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consectetur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adipiscing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sed do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eiusmod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incididunt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et dolore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magna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ad minim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veniam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quis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nostrud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exercitation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ullamco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nisi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aliquip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ex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commodo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consequat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duis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irure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dolor in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reprehenderit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voluptate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velit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esse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cillum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dolore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eu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fugiat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nulla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pariatur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excepteur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occaecat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cupidatat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non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proident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sunt in culpa qui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officia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deserunt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mollit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anim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laborum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96CDE-6D4B-4378-8397-317DF2E14BEE}"/>
              </a:ext>
            </a:extLst>
          </p:cNvPr>
          <p:cNvSpPr txBox="1"/>
          <p:nvPr/>
        </p:nvSpPr>
        <p:spPr>
          <a:xfrm>
            <a:off x="298638" y="1980532"/>
            <a:ext cx="1609834" cy="48320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---Huffman Tree---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(0)+(0)-&gt;(0)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(0)+(0)-&gt;(0)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(0)+(0)-&gt;(0)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(0)+(0)-&gt;(0)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(0)+(1)-&gt;(1)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(1)+(3)-&gt;(4)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(3)+(3)-&gt;(6)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(3)+(3)-&gt;(6)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(4)+(5)-&gt;(9)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(6)+(6)-&gt;(12)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(9)+(11)-&gt;(20)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(12)+(16)-&gt;(28)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(17)+(18)-&gt;(35)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(19)+(20)-&gt;(39)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(22)+(22)-&gt;(44)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(24)+(28)-&gt;(52)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(29)+(29)-&gt;(58)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(29)+(32)-&gt;(61)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(35)+(38)-&gt;(73)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(39)+(42)-&gt;(81)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(44)+(52)-&gt;(96)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(58)+(61)-&gt;(119)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(73)+(81)-&gt;(154)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(96)+(119)-&gt;(215)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(154)+(215)-&gt;(369)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4D6C2-251B-4D60-9969-15E1033C0258}"/>
              </a:ext>
            </a:extLst>
          </p:cNvPr>
          <p:cNvSpPr txBox="1"/>
          <p:nvPr/>
        </p:nvSpPr>
        <p:spPr>
          <a:xfrm>
            <a:off x="1874567" y="1980532"/>
            <a:ext cx="1702534" cy="48320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---Huffman codes---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(m): 1111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(s): 1110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(e): 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(d): 1011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(w): 1010111111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(y): 1010111110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(z): 1010111101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(j): 10101111001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(k): 10101111000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(h): 10101110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(v): 1010110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(q): 101010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(p): 10100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): 100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(l): 0111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(r): 0110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(n): 0101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(b): 0100111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(x): 0100110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(f): 0100101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(g): 0100100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(c): 01000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(a): 0011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(u): 0010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(o): 0001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(t): 0000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B5246-28C6-440B-AA34-8EDDF23994E7}"/>
              </a:ext>
            </a:extLst>
          </p:cNvPr>
          <p:cNvSpPr txBox="1"/>
          <p:nvPr/>
        </p:nvSpPr>
        <p:spPr>
          <a:xfrm>
            <a:off x="3577101" y="1980532"/>
            <a:ext cx="1702534" cy="48320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---Frequencies---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(a): 29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(b):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(c): 16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(d): 19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(e): 38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(f):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(g):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(h): 1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(i): 42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(j): 0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(k): 0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(l): 22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(m): 17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(n): 24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(o): 29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(p): 11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(q): 5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(r): 22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(s): 18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(t): 32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(u): 29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(v):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(w): 0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(x):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(y): 0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(z): 0</a:t>
            </a:r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4A69D-7FE8-4B8C-8ED7-FF146171DC4B}"/>
              </a:ext>
            </a:extLst>
          </p:cNvPr>
          <p:cNvSpPr txBox="1"/>
          <p:nvPr/>
        </p:nvSpPr>
        <p:spPr>
          <a:xfrm>
            <a:off x="5228143" y="1980532"/>
            <a:ext cx="3808353" cy="48320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E:\Project Folder\A2\Debug\A2.exe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(process 15008) exited with code 0.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Press any key to close this window . . .</a:t>
            </a:r>
          </a:p>
        </p:txBody>
      </p:sp>
    </p:spTree>
    <p:extLst>
      <p:ext uri="{BB962C8B-B14F-4D97-AF65-F5344CB8AC3E}">
        <p14:creationId xmlns:p14="http://schemas.microsoft.com/office/powerpoint/2010/main" val="339127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Table 9">
            <a:extLst>
              <a:ext uri="{FF2B5EF4-FFF2-40B4-BE49-F238E27FC236}">
                <a16:creationId xmlns:a16="http://schemas.microsoft.com/office/drawing/2014/main" id="{C8F68DAA-7220-4434-A45C-1BD890CF3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2221344"/>
              </p:ext>
            </p:extLst>
          </p:nvPr>
        </p:nvGraphicFramePr>
        <p:xfrm>
          <a:off x="71500" y="476672"/>
          <a:ext cx="9001000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125">
                  <a:extLst>
                    <a:ext uri="{9D8B030D-6E8A-4147-A177-3AD203B41FA5}">
                      <a16:colId xmlns:a16="http://schemas.microsoft.com/office/drawing/2014/main" val="1659245284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2380451367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3540537799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1716971792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100445378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2337078045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180783918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4161942771"/>
                    </a:ext>
                  </a:extLst>
                </a:gridCol>
              </a:tblGrid>
              <a:tr h="210881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글자</a:t>
                      </a:r>
                      <a:endParaRPr lang="en-US" sz="1000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빈도수</a:t>
                      </a:r>
                      <a:endParaRPr lang="en-US" sz="1000" b="1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동일한 문자 길이로 코드화</a:t>
                      </a:r>
                      <a:endParaRPr lang="en-US" sz="1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동일한 문자 길이로 코드화</a:t>
                      </a:r>
                      <a:endParaRPr lang="en-US" sz="1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3096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비트코드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/>
                        <a:t>비트갯수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/>
                        <a:t>비트수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비트코드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/>
                        <a:t>비트갯수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/>
                        <a:t>비트수</a:t>
                      </a:r>
                      <a:endParaRPr lang="en-US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788044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635516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550962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666991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421333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56067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263699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80064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65096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err="1"/>
                        <a:t>i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10532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10101111001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032199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10101111000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316610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740530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401960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35957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213644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723603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87459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035721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362683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473499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41108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166969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1010111111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13609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0100110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25387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1010111110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8071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1010111101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743258"/>
                  </a:ext>
                </a:extLst>
              </a:tr>
              <a:tr h="210881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/>
                        <a:t>합계</a:t>
                      </a:r>
                      <a:endParaRPr lang="en-US" sz="8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100%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1845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80.33%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1482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084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469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Table 9">
            <a:extLst>
              <a:ext uri="{FF2B5EF4-FFF2-40B4-BE49-F238E27FC236}">
                <a16:creationId xmlns:a16="http://schemas.microsoft.com/office/drawing/2014/main" id="{C8F68DAA-7220-4434-A45C-1BD890CF3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206176"/>
              </p:ext>
            </p:extLst>
          </p:nvPr>
        </p:nvGraphicFramePr>
        <p:xfrm>
          <a:off x="71500" y="476672"/>
          <a:ext cx="9001000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125">
                  <a:extLst>
                    <a:ext uri="{9D8B030D-6E8A-4147-A177-3AD203B41FA5}">
                      <a16:colId xmlns:a16="http://schemas.microsoft.com/office/drawing/2014/main" val="1659245284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2380451367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3540537799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1716971792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100445378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2337078045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180783918"/>
                    </a:ext>
                  </a:extLst>
                </a:gridCol>
                <a:gridCol w="1125125">
                  <a:extLst>
                    <a:ext uri="{9D8B030D-6E8A-4147-A177-3AD203B41FA5}">
                      <a16:colId xmlns:a16="http://schemas.microsoft.com/office/drawing/2014/main" val="4161942771"/>
                    </a:ext>
                  </a:extLst>
                </a:gridCol>
              </a:tblGrid>
              <a:tr h="210881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글자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빈도수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동일한 문자 길이로 코드화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동일한 문자 길이로 코드화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3096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비트코드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비트갯수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비트수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비트코드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비트갯수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비트수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788044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635516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550962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666991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421333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56067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263699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80064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65096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err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i</a:t>
                      </a:r>
                      <a:endParaRPr lang="en-US" sz="800" dirty="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10532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10101111001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032199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10101111000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316610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740530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401960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35957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213644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723603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87459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035721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362683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473499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41108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166969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1010111111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13609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0100110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253875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1010111110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8071"/>
                  </a:ext>
                </a:extLst>
              </a:tr>
              <a:tr h="21088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1010111101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743258"/>
                  </a:ext>
                </a:extLst>
              </a:tr>
              <a:tr h="210881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/>
                        <a:t>합계</a:t>
                      </a:r>
                      <a:endParaRPr lang="en-US" sz="8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100%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1845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80.33%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1482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084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936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C7F7B6-A7BB-4DD1-B813-530C85610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786" y="3554254"/>
            <a:ext cx="6305550" cy="211455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6501E8A-0902-4C83-BD54-3BD49D57E305}"/>
              </a:ext>
            </a:extLst>
          </p:cNvPr>
          <p:cNvSpPr txBox="1">
            <a:spLocks/>
          </p:cNvSpPr>
          <p:nvPr/>
        </p:nvSpPr>
        <p:spPr>
          <a:xfrm>
            <a:off x="457200" y="476673"/>
            <a:ext cx="8229600" cy="82431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프로그램 구현 결과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CEC7A-0BFB-4869-891D-6A8BF781B48F}"/>
              </a:ext>
            </a:extLst>
          </p:cNvPr>
          <p:cNvSpPr txBox="1"/>
          <p:nvPr/>
        </p:nvSpPr>
        <p:spPr>
          <a:xfrm>
            <a:off x="251520" y="1189761"/>
            <a:ext cx="8784976" cy="752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lorem ipsum dolor sit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amet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consectetur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adipiscing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sed do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eiusmod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incididunt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et dolore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magna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ad minim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veniam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quis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nostrud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exercitation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ullamco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nisi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aliquip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ex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commodo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consequat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duis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irure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dolor in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reprehenderit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voluptate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velit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esse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cillum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dolore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eu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fugiat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nulla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pariatur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excepteur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occaecat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cupidatat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non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proident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sunt in culpa qui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officia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deserunt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mollit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anim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laborum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EF8055-227B-4CE5-80CB-008D170F904B}"/>
              </a:ext>
            </a:extLst>
          </p:cNvPr>
          <p:cNvSpPr txBox="1"/>
          <p:nvPr/>
        </p:nvSpPr>
        <p:spPr>
          <a:xfrm>
            <a:off x="3285356" y="5668239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&lt;</a:t>
            </a:r>
            <a:r>
              <a:rPr lang="ko-KR" altLang="en-US" dirty="0" err="1"/>
              <a:t>허프만</a:t>
            </a:r>
            <a:r>
              <a:rPr lang="ko-KR" altLang="en-US" dirty="0"/>
              <a:t> </a:t>
            </a:r>
            <a:r>
              <a:rPr lang="en-US" altLang="ko-KR" dirty="0"/>
              <a:t>heap&gt;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8A6731-EE6C-494B-BEDB-C818008B43EB}"/>
              </a:ext>
            </a:extLst>
          </p:cNvPr>
          <p:cNvSpPr txBox="1"/>
          <p:nvPr/>
        </p:nvSpPr>
        <p:spPr>
          <a:xfrm>
            <a:off x="404664" y="1980532"/>
            <a:ext cx="1702534" cy="48320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---Frequencies---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(a): 29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(b):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(c): 16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(d): 19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(e): 38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(f):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(g):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(h): 1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(i): 42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(j): 0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(k): 0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(l): 22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(m): 17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(n): 24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(o): 29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(p): 11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(q): 5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(r): 22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(s): 18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(t): 32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(u): 29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(v):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(w): 0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(x): 3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(y): 0</a:t>
            </a:r>
          </a:p>
          <a:p>
            <a:r>
              <a:rPr lang="pt-BR" sz="1100" dirty="0">
                <a:solidFill>
                  <a:schemeClr val="bg1"/>
                </a:solidFill>
                <a:latin typeface="Consolas" panose="020B0609020204030204" pitchFamily="49" charset="0"/>
              </a:rPr>
              <a:t>(z): 0</a:t>
            </a:r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6B3165-98EB-4961-9D10-127642768537}"/>
              </a:ext>
            </a:extLst>
          </p:cNvPr>
          <p:cNvCxnSpPr/>
          <p:nvPr/>
        </p:nvCxnSpPr>
        <p:spPr>
          <a:xfrm>
            <a:off x="4067944" y="2780928"/>
            <a:ext cx="27363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37ADABD-2CE0-4858-816D-D61CC3456F57}"/>
              </a:ext>
            </a:extLst>
          </p:cNvPr>
          <p:cNvSpPr txBox="1"/>
          <p:nvPr/>
        </p:nvSpPr>
        <p:spPr>
          <a:xfrm>
            <a:off x="4139952" y="2411597"/>
            <a:ext cx="28803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5A02C8-FCF5-4DD0-991C-128EFBF1352C}"/>
              </a:ext>
            </a:extLst>
          </p:cNvPr>
          <p:cNvSpPr txBox="1"/>
          <p:nvPr/>
        </p:nvSpPr>
        <p:spPr>
          <a:xfrm>
            <a:off x="6460738" y="2411597"/>
            <a:ext cx="28803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24BC98-7E6E-4574-90AC-559F5B4A7AEF}"/>
              </a:ext>
            </a:extLst>
          </p:cNvPr>
          <p:cNvCxnSpPr>
            <a:cxnSpLocks/>
          </p:cNvCxnSpPr>
          <p:nvPr/>
        </p:nvCxnSpPr>
        <p:spPr>
          <a:xfrm>
            <a:off x="6028690" y="3232497"/>
            <a:ext cx="14401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D0F9ABE-215D-4C76-A3F7-F6204CCE5DC7}"/>
              </a:ext>
            </a:extLst>
          </p:cNvPr>
          <p:cNvSpPr txBox="1"/>
          <p:nvPr/>
        </p:nvSpPr>
        <p:spPr>
          <a:xfrm>
            <a:off x="6028690" y="288268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03D95B-B9F3-4E55-979A-74919D76F8E2}"/>
              </a:ext>
            </a:extLst>
          </p:cNvPr>
          <p:cNvSpPr txBox="1"/>
          <p:nvPr/>
        </p:nvSpPr>
        <p:spPr>
          <a:xfrm>
            <a:off x="7036802" y="288268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B1037B-E6AF-4772-8DE0-F910E7789F11}"/>
              </a:ext>
            </a:extLst>
          </p:cNvPr>
          <p:cNvCxnSpPr>
            <a:cxnSpLocks/>
          </p:cNvCxnSpPr>
          <p:nvPr/>
        </p:nvCxnSpPr>
        <p:spPr>
          <a:xfrm>
            <a:off x="3285356" y="3218470"/>
            <a:ext cx="14401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0D73D6-B50F-4D60-B015-06D5939680B9}"/>
              </a:ext>
            </a:extLst>
          </p:cNvPr>
          <p:cNvSpPr txBox="1"/>
          <p:nvPr/>
        </p:nvSpPr>
        <p:spPr>
          <a:xfrm>
            <a:off x="3285356" y="286865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r>
              <a:rPr lang="en-US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72ED0A-DBAD-439F-B386-43AA9EE68395}"/>
              </a:ext>
            </a:extLst>
          </p:cNvPr>
          <p:cNvSpPr txBox="1"/>
          <p:nvPr/>
        </p:nvSpPr>
        <p:spPr>
          <a:xfrm>
            <a:off x="4293468" y="286865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5228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C7F7B6-A7BB-4DD1-B813-530C85610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786" y="3554254"/>
            <a:ext cx="6305550" cy="211455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6501E8A-0902-4C83-BD54-3BD49D57E305}"/>
              </a:ext>
            </a:extLst>
          </p:cNvPr>
          <p:cNvSpPr txBox="1">
            <a:spLocks/>
          </p:cNvSpPr>
          <p:nvPr/>
        </p:nvSpPr>
        <p:spPr>
          <a:xfrm>
            <a:off x="457200" y="476673"/>
            <a:ext cx="8229600" cy="82431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프로그램 구현 결과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CEC7A-0BFB-4869-891D-6A8BF781B48F}"/>
              </a:ext>
            </a:extLst>
          </p:cNvPr>
          <p:cNvSpPr txBox="1"/>
          <p:nvPr/>
        </p:nvSpPr>
        <p:spPr>
          <a:xfrm>
            <a:off x="251520" y="1189761"/>
            <a:ext cx="8784976" cy="752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lorem ipsum dolor sit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amet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consectetur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adipiscing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sed do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eiusmod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incididunt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et dolore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magna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ad minim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veniam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quis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nostrud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exercitation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ullamco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nisi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aliquip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ex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commodo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consequat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duis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irure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dolor in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reprehenderit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voluptate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velit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esse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cillum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dolore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eu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fugiat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nulla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pariatur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excepteur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occaecat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cupidatat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non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proident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sunt in culpa qui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officia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deserunt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mollit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anim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laborum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EF8055-227B-4CE5-80CB-008D170F904B}"/>
              </a:ext>
            </a:extLst>
          </p:cNvPr>
          <p:cNvSpPr txBox="1"/>
          <p:nvPr/>
        </p:nvSpPr>
        <p:spPr>
          <a:xfrm>
            <a:off x="3285356" y="5668239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&lt;</a:t>
            </a:r>
            <a:r>
              <a:rPr lang="ko-KR" altLang="en-US" dirty="0" err="1"/>
              <a:t>허프만</a:t>
            </a:r>
            <a:r>
              <a:rPr lang="ko-KR" altLang="en-US" dirty="0"/>
              <a:t> </a:t>
            </a:r>
            <a:r>
              <a:rPr lang="en-US" altLang="ko-KR" dirty="0"/>
              <a:t>heap&gt;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715BF-8B62-491F-A542-90ABB77D4083}"/>
              </a:ext>
            </a:extLst>
          </p:cNvPr>
          <p:cNvSpPr txBox="1"/>
          <p:nvPr/>
        </p:nvSpPr>
        <p:spPr>
          <a:xfrm>
            <a:off x="404664" y="1980532"/>
            <a:ext cx="1702534" cy="48320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---Huffman codes---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(m): 1111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(s): 1110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(e): 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(d): 1011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(w): 1010111111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(y): 1010111110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(z): 1010111101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(j): 10101111001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(k): 10101111000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(h): 10101110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(v): 1010110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(q): 101010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(p): 10100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): 100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(l): 0111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(r): 0110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(n): 0101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(b): 0100111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(x): 0100110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(f): 0100101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(g): 0100100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(c): 01000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(a): 0011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(u): 0010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(o): 0001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(t): 0000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05934E-B91D-4458-97B7-788A227770C6}"/>
              </a:ext>
            </a:extLst>
          </p:cNvPr>
          <p:cNvCxnSpPr/>
          <p:nvPr/>
        </p:nvCxnSpPr>
        <p:spPr>
          <a:xfrm>
            <a:off x="4067944" y="2780928"/>
            <a:ext cx="27363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9D19C07-81C7-48FE-9375-DDF7B74E818E}"/>
              </a:ext>
            </a:extLst>
          </p:cNvPr>
          <p:cNvSpPr txBox="1"/>
          <p:nvPr/>
        </p:nvSpPr>
        <p:spPr>
          <a:xfrm>
            <a:off x="4139952" y="2411597"/>
            <a:ext cx="28803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3C322B-ABC3-4D20-A0BA-DD66412D1FFD}"/>
              </a:ext>
            </a:extLst>
          </p:cNvPr>
          <p:cNvSpPr txBox="1"/>
          <p:nvPr/>
        </p:nvSpPr>
        <p:spPr>
          <a:xfrm>
            <a:off x="6460738" y="2411597"/>
            <a:ext cx="28803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9C3401-7049-4465-8900-B6F37BED0A37}"/>
              </a:ext>
            </a:extLst>
          </p:cNvPr>
          <p:cNvCxnSpPr>
            <a:cxnSpLocks/>
          </p:cNvCxnSpPr>
          <p:nvPr/>
        </p:nvCxnSpPr>
        <p:spPr>
          <a:xfrm>
            <a:off x="3285356" y="3218470"/>
            <a:ext cx="14401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8576A8-2958-4672-8BA6-BF6EF73C8FA8}"/>
              </a:ext>
            </a:extLst>
          </p:cNvPr>
          <p:cNvSpPr txBox="1"/>
          <p:nvPr/>
        </p:nvSpPr>
        <p:spPr>
          <a:xfrm>
            <a:off x="3285356" y="286865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r>
              <a:rPr lang="en-US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7B34B1-471C-4F92-84FE-6CFCE1929987}"/>
              </a:ext>
            </a:extLst>
          </p:cNvPr>
          <p:cNvSpPr txBox="1"/>
          <p:nvPr/>
        </p:nvSpPr>
        <p:spPr>
          <a:xfrm>
            <a:off x="4293468" y="286865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FBE1A5-54DE-44F4-B8D5-E0F76023FD35}"/>
              </a:ext>
            </a:extLst>
          </p:cNvPr>
          <p:cNvCxnSpPr>
            <a:cxnSpLocks/>
          </p:cNvCxnSpPr>
          <p:nvPr/>
        </p:nvCxnSpPr>
        <p:spPr>
          <a:xfrm>
            <a:off x="6028690" y="3232497"/>
            <a:ext cx="14401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A2EA39E-5F12-48C3-9855-A842C9C41829}"/>
              </a:ext>
            </a:extLst>
          </p:cNvPr>
          <p:cNvSpPr txBox="1"/>
          <p:nvPr/>
        </p:nvSpPr>
        <p:spPr>
          <a:xfrm>
            <a:off x="6028690" y="288268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4D2114-52E7-4171-932F-46734619B12C}"/>
              </a:ext>
            </a:extLst>
          </p:cNvPr>
          <p:cNvSpPr txBox="1"/>
          <p:nvPr/>
        </p:nvSpPr>
        <p:spPr>
          <a:xfrm>
            <a:off x="7036802" y="288268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69010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0FAC-A786-4798-98DD-BD43DA68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  <a:solidFill>
            <a:schemeClr val="bg2"/>
          </a:solidFill>
        </p:spPr>
        <p:txBody>
          <a:bodyPr>
            <a:normAutofit fontScale="90000"/>
          </a:bodyPr>
          <a:lstStyle/>
          <a:p>
            <a:pPr algn="ctr"/>
            <a:r>
              <a:rPr lang="ko-KR" altLang="en-US" dirty="0"/>
              <a:t>라이브 테스팅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F31FA-9C9B-478A-AABF-DCE1E1918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72" y="1124744"/>
            <a:ext cx="3096668" cy="5456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0B0AE1-B5D5-4A15-B681-69A723D6C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196752"/>
            <a:ext cx="4451505" cy="545668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895D21-F02D-4FE7-A3CA-E815F43ED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275631"/>
            <a:ext cx="3293061" cy="5456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8A3BA-3272-4A30-B7A2-B6B3E1E3CFE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14"/>
          <a:stretch/>
        </p:blipFill>
        <p:spPr>
          <a:xfrm>
            <a:off x="6083720" y="1412776"/>
            <a:ext cx="2887611" cy="18318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5C882E-4E19-433E-A3F4-C4BD350403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674" y="2519406"/>
            <a:ext cx="2601830" cy="4271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E527EC-8846-4DC9-B88F-C9C75D032A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786" y="1023602"/>
            <a:ext cx="4496427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0FAC-A786-4798-98DD-BD43DA68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  <a:solidFill>
            <a:schemeClr val="bg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altLang="ko-KR" dirty="0"/>
              <a:t>Q&amp;A</a:t>
            </a:r>
            <a:r>
              <a:rPr lang="en-US" dirty="0"/>
              <a:t>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38B006-E37E-4F3B-B3C3-78617135DC79}"/>
              </a:ext>
            </a:extLst>
          </p:cNvPr>
          <p:cNvGrpSpPr/>
          <p:nvPr/>
        </p:nvGrpSpPr>
        <p:grpSpPr>
          <a:xfrm>
            <a:off x="143672" y="1124744"/>
            <a:ext cx="8964832" cy="5665837"/>
            <a:chOff x="143672" y="1124744"/>
            <a:chExt cx="8964832" cy="566583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7F31FA-9C9B-478A-AABF-DCE1E1918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672" y="1124744"/>
              <a:ext cx="3096668" cy="54566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0B0AE1-B5D5-4A15-B681-69A723D6C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3728" y="1196752"/>
              <a:ext cx="4451505" cy="5456684"/>
            </a:xfrm>
            <a:prstGeom prst="rect">
              <a:avLst/>
            </a:prstGeom>
            <a:ln>
              <a:solidFill>
                <a:schemeClr val="tx1"/>
              </a:solidFill>
            </a:ln>
            <a:effectLst/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E895D21-F02D-4FE7-A3CA-E815F43ED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5936" y="1275631"/>
              <a:ext cx="3293061" cy="54566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0D8A3BA-3272-4A30-B7A2-B6B3E1E3CF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114"/>
            <a:stretch/>
          </p:blipFill>
          <p:spPr>
            <a:xfrm>
              <a:off x="6083720" y="1412776"/>
              <a:ext cx="2887611" cy="18318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15C882E-4E19-433E-A3F4-C4BD35040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6674" y="2519406"/>
              <a:ext cx="2601830" cy="4271175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DA8E4B-7B2A-4B13-9318-56334C4B6001}"/>
              </a:ext>
            </a:extLst>
          </p:cNvPr>
          <p:cNvGrpSpPr/>
          <p:nvPr/>
        </p:nvGrpSpPr>
        <p:grpSpPr>
          <a:xfrm>
            <a:off x="2962050" y="3033657"/>
            <a:ext cx="3219899" cy="975351"/>
            <a:chOff x="2962050" y="3033657"/>
            <a:chExt cx="3219899" cy="9753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62359F-754C-45F2-826C-E6B4D9D59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050" y="3033657"/>
              <a:ext cx="3219899" cy="79068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35EFB9-D720-4F7F-AA03-9DBA4F9F1AAC}"/>
                </a:ext>
              </a:extLst>
            </p:cNvPr>
            <p:cNvSpPr txBox="1"/>
            <p:nvPr/>
          </p:nvSpPr>
          <p:spPr>
            <a:xfrm>
              <a:off x="3311860" y="3639676"/>
              <a:ext cx="252028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ko-KR" altLang="en-US" dirty="0"/>
                <a:t>대소문자 구분하세요</a:t>
              </a:r>
              <a:r>
                <a:rPr lang="en-US" altLang="ko-KR" dirty="0"/>
                <a:t>.”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1002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54DEFF4-36DA-4DB9-8965-C57C8B96C1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06" r="249"/>
          <a:stretch/>
        </p:blipFill>
        <p:spPr>
          <a:xfrm>
            <a:off x="0" y="1124744"/>
            <a:ext cx="3312368" cy="36460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714148-C537-4FF5-9C70-17DB93EC4B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95"/>
          <a:stretch/>
        </p:blipFill>
        <p:spPr>
          <a:xfrm>
            <a:off x="2145865" y="692696"/>
            <a:ext cx="6998135" cy="36460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1409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C2BB3EF-3F96-40EB-938C-B9EF8D10345F}"/>
              </a:ext>
            </a:extLst>
          </p:cNvPr>
          <p:cNvSpPr txBox="1"/>
          <p:nvPr/>
        </p:nvSpPr>
        <p:spPr>
          <a:xfrm>
            <a:off x="2375756" y="6190845"/>
            <a:ext cx="4392488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v3 - </a:t>
            </a:r>
            <a:r>
              <a:rPr lang="ko-KR" altLang="en-US" b="1" dirty="0"/>
              <a:t>대소문자 구분 기능 추가</a:t>
            </a:r>
            <a:r>
              <a:rPr lang="en-US" altLang="ko-KR" b="1" dirty="0"/>
              <a:t>, </a:t>
            </a:r>
            <a:r>
              <a:rPr lang="ko-KR" altLang="en-US" b="1" dirty="0"/>
              <a:t>코드 간결화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6E8B8-89E5-43E7-9D5A-B5701E486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865" y="692696"/>
            <a:ext cx="4852270" cy="52507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832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6B709F-9A01-4076-8846-798AA2376808}"/>
              </a:ext>
            </a:extLst>
          </p:cNvPr>
          <p:cNvSpPr/>
          <p:nvPr/>
        </p:nvSpPr>
        <p:spPr>
          <a:xfrm>
            <a:off x="-6369" y="448017"/>
            <a:ext cx="9150369" cy="64099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A1501-0BE4-44E3-97D6-2E8F35121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012" y="562569"/>
            <a:ext cx="1590897" cy="60968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688E9F-65BE-424C-AD82-87F1CBDED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832" y="572095"/>
            <a:ext cx="1009791" cy="6077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1DED43-3AAC-461E-A9DA-0C94E77C7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6500278"/>
            <a:ext cx="2343477" cy="1524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F64A66-3B77-4F95-8D9D-2E311BFE18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81622"/>
            <a:ext cx="1047619" cy="59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20AA83-A86C-4267-8F3E-1104DF93BBB6}"/>
              </a:ext>
            </a:extLst>
          </p:cNvPr>
          <p:cNvSpPr txBox="1"/>
          <p:nvPr/>
        </p:nvSpPr>
        <p:spPr>
          <a:xfrm>
            <a:off x="4198757" y="611416"/>
            <a:ext cx="4680520" cy="1407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lorem ipsum dolor sit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amet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consectetur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adipiscing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sed do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eiusmod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incididunt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et dolore magna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ad minim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veniam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quis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nostrud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exercitation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ullamco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nisi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aliquip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ex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commodo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consequat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duis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irure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dolor in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reprehenderit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voluptate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velit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esse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cillum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dolore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eu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fugiat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nulla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pariatur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excepteur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occaecat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cupidatat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non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proident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sunt in culpa qui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officia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deserunt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mollit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anim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laborum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D63125-1CA9-476B-BFA8-5E61DB6D18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727" y="2578276"/>
            <a:ext cx="5449060" cy="3362794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E53537-AF3E-465C-8DE1-681DC5BCAB36}"/>
              </a:ext>
            </a:extLst>
          </p:cNvPr>
          <p:cNvSpPr txBox="1"/>
          <p:nvPr/>
        </p:nvSpPr>
        <p:spPr>
          <a:xfrm>
            <a:off x="4195445" y="2009752"/>
            <a:ext cx="4680520" cy="28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&lt;Lorem ipsum.txt&gt;</a:t>
            </a:r>
          </a:p>
        </p:txBody>
      </p:sp>
    </p:spTree>
    <p:extLst>
      <p:ext uri="{BB962C8B-B14F-4D97-AF65-F5344CB8AC3E}">
        <p14:creationId xmlns:p14="http://schemas.microsoft.com/office/powerpoint/2010/main" val="2820953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6B709F-9A01-4076-8846-798AA2376808}"/>
              </a:ext>
            </a:extLst>
          </p:cNvPr>
          <p:cNvSpPr/>
          <p:nvPr/>
        </p:nvSpPr>
        <p:spPr>
          <a:xfrm>
            <a:off x="-6369" y="448017"/>
            <a:ext cx="9150369" cy="64099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1DED43-3AAC-461E-A9DA-0C94E77C7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6500278"/>
            <a:ext cx="2343477" cy="1524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20AA83-A86C-4267-8F3E-1104DF93BBB6}"/>
              </a:ext>
            </a:extLst>
          </p:cNvPr>
          <p:cNvSpPr txBox="1"/>
          <p:nvPr/>
        </p:nvSpPr>
        <p:spPr>
          <a:xfrm>
            <a:off x="4198757" y="611416"/>
            <a:ext cx="4680520" cy="3681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numCol="2" rtlCol="0">
            <a:no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Beautiful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Soup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Who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cares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fish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Game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or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any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other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dish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Who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would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not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give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two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Pennyworth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only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beautiful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Soup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Pennyworth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only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beautiful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Soup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Beau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ootiful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Soo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oop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Beau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ootiful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Soo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oop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Soo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oop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the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FBCE45-A69D-44F6-A382-C71BB5072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01" y="586301"/>
            <a:ext cx="1124107" cy="59444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C56E95-C168-4E7F-9DF6-9281AD978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012" y="560838"/>
            <a:ext cx="1600423" cy="61063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EC8C2FF-9C62-4DEF-A27D-83E49C3A21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267" y="586301"/>
            <a:ext cx="1019317" cy="60777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4DFBF4D-7AF3-4269-BBE8-7BCF6A3926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4555289"/>
            <a:ext cx="5515745" cy="924054"/>
          </a:xfrm>
          <a:prstGeom prst="rect">
            <a:avLst/>
          </a:prstGeom>
          <a:effectLst>
            <a:softEdge rad="1016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4CE7DD1-5AB4-4047-9F87-7D1884ECFD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644" y="5450128"/>
            <a:ext cx="5268060" cy="781159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17BEFC2-8F50-4933-8A2C-F332DBDDE77E}"/>
              </a:ext>
            </a:extLst>
          </p:cNvPr>
          <p:cNvSpPr txBox="1"/>
          <p:nvPr/>
        </p:nvSpPr>
        <p:spPr>
          <a:xfrm>
            <a:off x="4198757" y="4220200"/>
            <a:ext cx="4680520" cy="28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numCol="1" rtlCol="0">
            <a:no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&lt;word-list.txt&gt;</a:t>
            </a:r>
          </a:p>
        </p:txBody>
      </p:sp>
    </p:spTree>
    <p:extLst>
      <p:ext uri="{BB962C8B-B14F-4D97-AF65-F5344CB8AC3E}">
        <p14:creationId xmlns:p14="http://schemas.microsoft.com/office/powerpoint/2010/main" val="1388252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0FAC-A786-4798-98DD-BD43DA68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  <a:solidFill>
            <a:schemeClr val="bg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altLang="ko-KR" dirty="0"/>
              <a:t>Q&amp;A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F31FA-9C9B-478A-AABF-DCE1E1918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72" y="1124744"/>
            <a:ext cx="3096668" cy="5456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0B0AE1-B5D5-4A15-B681-69A723D6C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196752"/>
            <a:ext cx="4451505" cy="545668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895D21-F02D-4FE7-A3CA-E815F43ED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275631"/>
            <a:ext cx="3293061" cy="5456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8A3BA-3272-4A30-B7A2-B6B3E1E3CFE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14"/>
          <a:stretch/>
        </p:blipFill>
        <p:spPr>
          <a:xfrm>
            <a:off x="6083720" y="1412776"/>
            <a:ext cx="2887611" cy="18318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5C882E-4E19-433E-A3F4-C4BD350403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674" y="2519406"/>
            <a:ext cx="2601830" cy="4271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18A85F-B406-4FA7-ADBA-4C96A7295E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6251">
            <a:off x="1177640" y="1662245"/>
            <a:ext cx="3119924" cy="333805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A268340-A3DD-403F-B461-F7FAFE79DB0A}"/>
              </a:ext>
            </a:extLst>
          </p:cNvPr>
          <p:cNvGrpSpPr/>
          <p:nvPr/>
        </p:nvGrpSpPr>
        <p:grpSpPr>
          <a:xfrm rot="1019267">
            <a:off x="4752458" y="3125698"/>
            <a:ext cx="3219899" cy="975351"/>
            <a:chOff x="2962050" y="3033657"/>
            <a:chExt cx="3219899" cy="97535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1D5E5F3-CF5E-4BCD-BCAF-9397108CC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050" y="3033657"/>
              <a:ext cx="3219899" cy="79068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7C394F-77F7-48B4-8168-9474E4A839ED}"/>
                </a:ext>
              </a:extLst>
            </p:cNvPr>
            <p:cNvSpPr txBox="1"/>
            <p:nvPr/>
          </p:nvSpPr>
          <p:spPr>
            <a:xfrm>
              <a:off x="3311860" y="3639676"/>
              <a:ext cx="252028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ko-KR" altLang="en-US" dirty="0"/>
                <a:t>대소문자 구분하세요</a:t>
              </a:r>
              <a:r>
                <a:rPr lang="en-US" altLang="ko-KR" dirty="0"/>
                <a:t>.”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579D9A-8A7E-4E66-9E1F-30FEC755DE64}"/>
              </a:ext>
            </a:extLst>
          </p:cNvPr>
          <p:cNvGrpSpPr/>
          <p:nvPr/>
        </p:nvGrpSpPr>
        <p:grpSpPr>
          <a:xfrm rot="305474">
            <a:off x="3162592" y="2454231"/>
            <a:ext cx="3002199" cy="3893011"/>
            <a:chOff x="2145865" y="692696"/>
            <a:chExt cx="4852270" cy="587439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A05A71-AD49-476E-9824-AA1BCDD82A46}"/>
                </a:ext>
              </a:extLst>
            </p:cNvPr>
            <p:cNvSpPr txBox="1"/>
            <p:nvPr/>
          </p:nvSpPr>
          <p:spPr>
            <a:xfrm>
              <a:off x="2375755" y="6183938"/>
              <a:ext cx="4392487" cy="383149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/>
                <a:t>v3 - </a:t>
              </a:r>
              <a:r>
                <a:rPr lang="ko-KR" altLang="en-US" sz="1050" b="1" dirty="0"/>
                <a:t>대소문자 구분 기능 추가</a:t>
              </a:r>
              <a:r>
                <a:rPr lang="en-US" altLang="ko-KR" sz="1050" b="1" dirty="0"/>
                <a:t>, </a:t>
              </a:r>
              <a:r>
                <a:rPr lang="ko-KR" altLang="en-US" sz="1050" b="1" dirty="0"/>
                <a:t>코드 간결화</a:t>
              </a:r>
              <a:endParaRPr lang="en-US" sz="1050" b="1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FFE5569-CDB1-40FD-8756-B60A0B3D1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5865" y="692696"/>
              <a:ext cx="4852270" cy="5250767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00D862E-4885-40E4-A0A9-8315EEBD1FBC}"/>
              </a:ext>
            </a:extLst>
          </p:cNvPr>
          <p:cNvSpPr txBox="1"/>
          <p:nvPr/>
        </p:nvSpPr>
        <p:spPr>
          <a:xfrm>
            <a:off x="1798168" y="3021875"/>
            <a:ext cx="554766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“UNIX</a:t>
            </a:r>
            <a:r>
              <a:rPr lang="ko-KR" altLang="en-US" b="1" dirty="0"/>
              <a:t> 환경에서 실행</a:t>
            </a:r>
            <a:r>
              <a:rPr lang="en-US" altLang="ko-KR" b="1" dirty="0"/>
              <a:t>”</a:t>
            </a:r>
          </a:p>
          <a:p>
            <a:pPr algn="ctr"/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51740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16E8B8-89E5-43E7-9D5A-B5701E486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7336" y="692696"/>
            <a:ext cx="5809327" cy="54498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DACBF1-AC0F-4B49-9610-939DFFB67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984" y="6252552"/>
            <a:ext cx="6002032" cy="4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42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0FAC-A786-4798-98DD-BD43DA68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  <a:solidFill>
            <a:schemeClr val="bg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altLang="ko-KR" dirty="0"/>
              <a:t>Q&amp;A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F31FA-9C9B-478A-AABF-DCE1E1918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72" y="1124744"/>
            <a:ext cx="3096668" cy="5456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0B0AE1-B5D5-4A15-B681-69A723D6C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196752"/>
            <a:ext cx="4451505" cy="545668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895D21-F02D-4FE7-A3CA-E815F43ED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275631"/>
            <a:ext cx="3293061" cy="5456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8A3BA-3272-4A30-B7A2-B6B3E1E3CFE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14"/>
          <a:stretch/>
        </p:blipFill>
        <p:spPr>
          <a:xfrm>
            <a:off x="6083720" y="1412776"/>
            <a:ext cx="2887611" cy="18318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5C882E-4E19-433E-A3F4-C4BD350403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674" y="2519406"/>
            <a:ext cx="2601830" cy="4271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18A85F-B406-4FA7-ADBA-4C96A7295E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6251">
            <a:off x="1177640" y="1662245"/>
            <a:ext cx="3119924" cy="333805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A268340-A3DD-403F-B461-F7FAFE79DB0A}"/>
              </a:ext>
            </a:extLst>
          </p:cNvPr>
          <p:cNvGrpSpPr/>
          <p:nvPr/>
        </p:nvGrpSpPr>
        <p:grpSpPr>
          <a:xfrm rot="1019267">
            <a:off x="4752458" y="3125698"/>
            <a:ext cx="3219899" cy="975351"/>
            <a:chOff x="2962050" y="3033657"/>
            <a:chExt cx="3219899" cy="97535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1D5E5F3-CF5E-4BCD-BCAF-9397108CC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2050" y="3033657"/>
              <a:ext cx="3219899" cy="79068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7C394F-77F7-48B4-8168-9474E4A839ED}"/>
                </a:ext>
              </a:extLst>
            </p:cNvPr>
            <p:cNvSpPr txBox="1"/>
            <p:nvPr/>
          </p:nvSpPr>
          <p:spPr>
            <a:xfrm>
              <a:off x="3311860" y="3639676"/>
              <a:ext cx="252028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ko-KR" altLang="en-US" dirty="0"/>
                <a:t>대소문자 구분하세요</a:t>
              </a:r>
              <a:r>
                <a:rPr lang="en-US" altLang="ko-KR" dirty="0"/>
                <a:t>.”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579D9A-8A7E-4E66-9E1F-30FEC755DE64}"/>
              </a:ext>
            </a:extLst>
          </p:cNvPr>
          <p:cNvGrpSpPr/>
          <p:nvPr/>
        </p:nvGrpSpPr>
        <p:grpSpPr>
          <a:xfrm rot="305474">
            <a:off x="3162592" y="2454231"/>
            <a:ext cx="3002199" cy="3893011"/>
            <a:chOff x="2145865" y="692696"/>
            <a:chExt cx="4852270" cy="587439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A05A71-AD49-476E-9824-AA1BCDD82A46}"/>
                </a:ext>
              </a:extLst>
            </p:cNvPr>
            <p:cNvSpPr txBox="1"/>
            <p:nvPr/>
          </p:nvSpPr>
          <p:spPr>
            <a:xfrm>
              <a:off x="2375755" y="6183938"/>
              <a:ext cx="4392487" cy="383149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/>
                <a:t>v3 - </a:t>
              </a:r>
              <a:r>
                <a:rPr lang="ko-KR" altLang="en-US" sz="1050" b="1" dirty="0"/>
                <a:t>대소문자 구분 기능 추가</a:t>
              </a:r>
              <a:r>
                <a:rPr lang="en-US" altLang="ko-KR" sz="1050" b="1" dirty="0"/>
                <a:t>, </a:t>
              </a:r>
              <a:r>
                <a:rPr lang="ko-KR" altLang="en-US" sz="1050" b="1" dirty="0"/>
                <a:t>코드 간결화</a:t>
              </a:r>
              <a:endParaRPr lang="en-US" sz="1050" b="1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FFE5569-CDB1-40FD-8756-B60A0B3D1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5865" y="692696"/>
              <a:ext cx="4852270" cy="5250767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816D8B6-0B35-479B-8914-8742467AC00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16" b="32462"/>
          <a:stretch/>
        </p:blipFill>
        <p:spPr>
          <a:xfrm>
            <a:off x="1667336" y="2328699"/>
            <a:ext cx="5809327" cy="2044838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  <a:softEdge rad="7239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0D862E-4885-40E4-A0A9-8315EEBD1FBC}"/>
              </a:ext>
            </a:extLst>
          </p:cNvPr>
          <p:cNvSpPr txBox="1"/>
          <p:nvPr/>
        </p:nvSpPr>
        <p:spPr>
          <a:xfrm>
            <a:off x="1798168" y="3021875"/>
            <a:ext cx="5547664" cy="923330"/>
          </a:xfrm>
          <a:prstGeom prst="rect">
            <a:avLst/>
          </a:prstGeom>
          <a:solidFill>
            <a:schemeClr val="lt1">
              <a:alpha val="2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“UNIX</a:t>
            </a:r>
            <a:r>
              <a:rPr lang="ko-KR" altLang="en-US" b="1" dirty="0"/>
              <a:t> 환경에서 실행</a:t>
            </a:r>
            <a:r>
              <a:rPr lang="en-US" altLang="ko-KR" b="1" dirty="0"/>
              <a:t>”</a:t>
            </a:r>
          </a:p>
          <a:p>
            <a:pPr algn="ctr"/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614621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투명도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클래식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투명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1346</TotalTime>
  <Words>5085</Words>
  <Application>Microsoft Office PowerPoint</Application>
  <PresentationFormat>On-screen Show (4:3)</PresentationFormat>
  <Paragraphs>1279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Roboto</vt:lpstr>
      <vt:lpstr>돋움</vt:lpstr>
      <vt:lpstr>맑은 고딕</vt:lpstr>
      <vt:lpstr>Arial</vt:lpstr>
      <vt:lpstr>Consolas</vt:lpstr>
      <vt:lpstr>Wingdings</vt:lpstr>
      <vt:lpstr>투명도</vt:lpstr>
      <vt:lpstr>2차 - huffman coding</vt:lpstr>
      <vt:lpstr>Huffman coding</vt:lpstr>
      <vt:lpstr>예를 들어보자.</vt:lpstr>
      <vt:lpstr>허프만 코드 원리</vt:lpstr>
      <vt:lpstr>프로그램 기본 원리</vt:lpstr>
      <vt:lpstr>우선순위 큐</vt:lpstr>
      <vt:lpstr>우선순위 큐</vt:lpstr>
      <vt:lpstr>우선순위 큐</vt:lpstr>
      <vt:lpstr>우선순위 큐</vt:lpstr>
      <vt:lpstr>우선순위 큐</vt:lpstr>
      <vt:lpstr>허프만 코드</vt:lpstr>
      <vt:lpstr>허프만 코드</vt:lpstr>
      <vt:lpstr>허프만 코드</vt:lpstr>
      <vt:lpstr>외부 파일 입력</vt:lpstr>
      <vt:lpstr>외부 파일 입력</vt:lpstr>
      <vt:lpstr>외부 파일 입력</vt:lpstr>
      <vt:lpstr>프로그램 구현 결과</vt:lpstr>
      <vt:lpstr>PowerPoint Presentation</vt:lpstr>
      <vt:lpstr>PowerPoint Presentation</vt:lpstr>
      <vt:lpstr>PowerPoint Presentation</vt:lpstr>
      <vt:lpstr>PowerPoint Presentation</vt:lpstr>
      <vt:lpstr>라이브 테스팅?</vt:lpstr>
      <vt:lpstr>Q&amp;A?</vt:lpstr>
      <vt:lpstr>PowerPoint Presentation</vt:lpstr>
      <vt:lpstr>PowerPoint Presentation</vt:lpstr>
      <vt:lpstr>PowerPoint Presentation</vt:lpstr>
      <vt:lpstr>PowerPoint Presentation</vt:lpstr>
      <vt:lpstr>Q&amp;A?</vt:lpstr>
      <vt:lpstr>PowerPoint Presentation</vt:lpstr>
      <vt:lpstr>Q&amp;A?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1주차 - 서버 접속하기</dc:title>
  <dc:creator/>
  <cp:lastModifiedBy>Sang Min Jeon</cp:lastModifiedBy>
  <cp:revision>354</cp:revision>
  <dcterms:created xsi:type="dcterms:W3CDTF">2020-03-16T07:27:46Z</dcterms:created>
  <dcterms:modified xsi:type="dcterms:W3CDTF">2020-05-31T11:23:13Z</dcterms:modified>
</cp:coreProperties>
</file>